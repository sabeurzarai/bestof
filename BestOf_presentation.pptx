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56" autoAdjust="0"/>
  </p:normalViewPr>
  <p:slideViewPr>
    <p:cSldViewPr snapToGrid="0">
      <p:cViewPr varScale="1">
        <p:scale>
          <a:sx n="122" d="100"/>
          <a:sy n="122" d="100"/>
        </p:scale>
        <p:origin x="128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b29caa0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b29caa0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b29caa0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b29caa05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b29caa05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b29caa05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b29caa05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b29caa05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b29caa05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b29caa05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b29caa05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b29caa05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b29caa05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b29caa05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b29caa05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b29caa05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b29caa05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b29caa05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b29caa05f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0b29caa05f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b29caa05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b29caa05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>
              <a:buNone/>
            </a:pPr>
            <a:endParaRPr lang="en-US" sz="14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18.157.233.122:8501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44676" y="781525"/>
            <a:ext cx="7882200" cy="1527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700"/>
              </a:spcAft>
              <a:buNone/>
            </a:pPr>
            <a:r>
              <a:rPr sz="4400" b="1" dirty="0" err="1">
                <a:solidFill>
                  <a:srgbClr val="262730"/>
                </a:solidFill>
                <a:latin typeface="Aptos"/>
              </a:rPr>
              <a:t>BestOf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006600"/>
            <a:ext cx="8520600" cy="2355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700"/>
              </a:spcAft>
              <a:buNone/>
            </a:pPr>
            <a:r>
              <a:rPr sz="2500" b="0" dirty="0">
                <a:solidFill>
                  <a:srgbClr val="525B69"/>
                </a:solidFill>
                <a:latin typeface="Aptos"/>
              </a:rPr>
              <a:t>Amazon reviews into clear buying advice</a:t>
            </a:r>
            <a:endParaRPr lang="de-DE" sz="2500" b="0" dirty="0">
              <a:solidFill>
                <a:srgbClr val="525B69"/>
              </a:solidFill>
              <a:latin typeface="Aptos"/>
            </a:endParaRPr>
          </a:p>
          <a:p>
            <a:pPr marL="0" lvl="0" indent="0" rtl="0">
              <a:spcBef>
                <a:spcPts val="0"/>
              </a:spcBef>
              <a:spcAft>
                <a:spcPts val="700"/>
              </a:spcAft>
              <a:buNone/>
            </a:pPr>
            <a:endParaRPr sz="2500" b="0" dirty="0">
              <a:solidFill>
                <a:srgbClr val="525B69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2500" b="0" dirty="0" err="1">
                <a:solidFill>
                  <a:srgbClr val="525B69"/>
                </a:solidFill>
                <a:latin typeface="Aptos"/>
              </a:rPr>
              <a:t>Sabeur</a:t>
            </a:r>
            <a:r>
              <a:rPr sz="2500" b="0" dirty="0">
                <a:solidFill>
                  <a:srgbClr val="525B69"/>
                </a:solidFill>
                <a:latin typeface="Aptos"/>
              </a:rPr>
              <a:t> </a:t>
            </a:r>
            <a:r>
              <a:rPr sz="2500" b="0" dirty="0" err="1">
                <a:solidFill>
                  <a:srgbClr val="525B69"/>
                </a:solidFill>
                <a:latin typeface="Aptos"/>
              </a:rPr>
              <a:t>Zarai</a:t>
            </a:r>
            <a:endParaRPr sz="2500" b="0" dirty="0">
              <a:solidFill>
                <a:srgbClr val="525B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The pitch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357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Messy reviews in. Clear advice out.</a:t>
            </a:r>
          </a:p>
          <a:p>
            <a:pPr>
              <a:spcAft>
                <a:spcPts val="700"/>
              </a:spcAft>
            </a:pPr>
            <a:endParaRPr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 err="1">
                <a:solidFill>
                  <a:srgbClr val="262730"/>
                </a:solidFill>
                <a:latin typeface="Aptos"/>
              </a:rPr>
              <a:t>BestOf</a:t>
            </a:r>
            <a:r>
              <a:rPr sz="2000" b="0" dirty="0">
                <a:solidFill>
                  <a:srgbClr val="262730"/>
                </a:solidFill>
                <a:latin typeface="Aptos"/>
              </a:rPr>
              <a:t> turns thousands of Amazon reviews into a short buying guide.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Upload a CSV, process the reviews, choose a category, and get the best picks.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The user saves time and still sees the reason behind the recommendation.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9733" y="3598475"/>
            <a:ext cx="2400000" cy="110000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400" b="1" dirty="0">
                <a:solidFill>
                  <a:srgbClr val="FF4B4B"/>
                </a:solidFill>
                <a:latin typeface="Aptos"/>
              </a:rPr>
              <a:t>57,418</a:t>
            </a:r>
          </a:p>
          <a:p>
            <a:pPr algn="ctr">
              <a:spcAft>
                <a:spcPts val="700"/>
              </a:spcAft>
            </a:pPr>
            <a:r>
              <a:rPr sz="2400" b="0" dirty="0">
                <a:solidFill>
                  <a:srgbClr val="525B69"/>
                </a:solidFill>
                <a:latin typeface="Aptos"/>
              </a:rPr>
              <a:t>clean reviews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39733" y="3598475"/>
            <a:ext cx="2400000" cy="1100000"/>
          </a:xfrm>
          <a:prstGeom prst="round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2ECC71"/>
                </a:solidFill>
                <a:latin typeface="Aptos"/>
              </a:rPr>
              <a:t>125</a:t>
            </a:r>
          </a:p>
          <a:p>
            <a:pPr algn="ctr">
              <a:spcAft>
                <a:spcPts val="700"/>
              </a:spcAft>
            </a:pPr>
            <a:r>
              <a:rPr sz="2400" b="0">
                <a:solidFill>
                  <a:srgbClr val="525B69"/>
                </a:solidFill>
                <a:latin typeface="Aptos"/>
              </a:rPr>
              <a:t>products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89733" y="3598475"/>
            <a:ext cx="2400000" cy="1100000"/>
          </a:xfrm>
          <a:prstGeom prst="round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FF4B4B"/>
                </a:solidFill>
                <a:latin typeface="Aptos"/>
              </a:rPr>
              <a:t>6</a:t>
            </a:r>
          </a:p>
          <a:p>
            <a:pPr algn="ctr">
              <a:spcAft>
                <a:spcPts val="700"/>
              </a:spcAft>
            </a:pPr>
            <a:r>
              <a:rPr sz="2400" b="0">
                <a:solidFill>
                  <a:srgbClr val="525B69"/>
                </a:solidFill>
                <a:latin typeface="Aptos"/>
              </a:rPr>
              <a:t>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BestOf pipeline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006518"/>
            <a:ext cx="8520600" cy="5166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1700" b="0" dirty="0">
                <a:solidFill>
                  <a:srgbClr val="525B69"/>
                </a:solidFill>
                <a:latin typeface="Aptos"/>
              </a:rPr>
              <a:t>A simple flow from raw reviews to a shopper-friendly recommendation.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3636" y="1509438"/>
            <a:ext cx="1417320" cy="3246120"/>
          </a:xfrm>
          <a:prstGeom prst="roundRect">
            <a:avLst/>
          </a:prstGeom>
          <a:solidFill>
            <a:srgbClr val="FDFE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3364" y="1655742"/>
            <a:ext cx="1197864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900" b="1">
                <a:solidFill>
                  <a:srgbClr val="174A80"/>
                </a:solidFill>
                <a:latin typeface="Aptos"/>
              </a:rPr>
              <a:t>AMAZON REVIEWS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8228" y="1984926"/>
            <a:ext cx="118872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dirty="0">
                <a:solidFill>
                  <a:srgbClr val="262730"/>
                </a:solidFill>
                <a:latin typeface="Aptos"/>
              </a:rPr>
              <a:t>Raw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8228" y="2204382"/>
            <a:ext cx="116128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dirty="0">
                <a:solidFill>
                  <a:srgbClr val="262730"/>
                </a:solidFill>
                <a:latin typeface="Aptos"/>
              </a:rPr>
              <a:t>• review title
• review text
• rating 1-5
• product name
• category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6516" y="3658278"/>
            <a:ext cx="1051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l"/>
            <a:r>
              <a:rPr sz="800" b="1">
                <a:solidFill>
                  <a:srgbClr val="F6C44B"/>
                </a:solidFill>
                <a:latin typeface="Aptos"/>
              </a:rPr>
              <a:t>★★★★★
review text...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82124" y="1509438"/>
            <a:ext cx="1620352" cy="3246120"/>
          </a:xfrm>
          <a:prstGeom prst="roundRect">
            <a:avLst/>
          </a:prstGeom>
          <a:solidFill>
            <a:srgbClr val="F8FFFB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191852" y="1628310"/>
            <a:ext cx="1197864" cy="22860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/>
            <a:r>
              <a:rPr sz="1000" b="1">
                <a:solidFill>
                  <a:srgbClr val="219664"/>
                </a:solidFill>
                <a:latin typeface="Aptos"/>
              </a:rPr>
              <a:t>1. SENTIMENT MODEL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10140" y="1893486"/>
            <a:ext cx="1161288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dirty="0">
                <a:solidFill>
                  <a:srgbClr val="262730"/>
                </a:solidFill>
                <a:latin typeface="Aptos"/>
              </a:rPr>
              <a:t>Classify each review</a:t>
            </a:r>
          </a:p>
        </p:txBody>
      </p:sp>
      <p:sp>
        <p:nvSpPr>
          <p:cNvPr id="76" name="Oval 75"/>
          <p:cNvSpPr/>
          <p:nvPr/>
        </p:nvSpPr>
        <p:spPr>
          <a:xfrm>
            <a:off x="2246716" y="2442126"/>
            <a:ext cx="310896" cy="310896"/>
          </a:xfrm>
          <a:prstGeom prst="ellipse">
            <a:avLst/>
          </a:prstGeom>
          <a:solidFill>
            <a:srgbClr val="2196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338156" y="2551854"/>
            <a:ext cx="32004" cy="32004"/>
          </a:xfrm>
          <a:prstGeom prst="ellipse">
            <a:avLst/>
          </a:prstGeom>
          <a:solidFill>
            <a:srgbClr val="26273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447884" y="2551854"/>
            <a:ext cx="32004" cy="32004"/>
          </a:xfrm>
          <a:prstGeom prst="ellipse">
            <a:avLst/>
          </a:prstGeom>
          <a:solidFill>
            <a:srgbClr val="26273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351872" y="2560998"/>
            <a:ext cx="109728" cy="109728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ctr"/>
            <a:r>
              <a:rPr sz="1000" b="1">
                <a:solidFill>
                  <a:srgbClr val="262730"/>
                </a:solidFill>
                <a:latin typeface="Aptos"/>
              </a:rPr>
              <a:t>⌣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0996" y="2807886"/>
            <a:ext cx="438912" cy="1828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/>
            <a:r>
              <a:rPr sz="700" b="1" dirty="0">
                <a:solidFill>
                  <a:srgbClr val="262730"/>
                </a:solidFill>
                <a:latin typeface="Aptos"/>
              </a:rPr>
              <a:t>Positive</a:t>
            </a:r>
          </a:p>
        </p:txBody>
      </p:sp>
      <p:sp>
        <p:nvSpPr>
          <p:cNvPr id="81" name="Oval 80"/>
          <p:cNvSpPr/>
          <p:nvPr/>
        </p:nvSpPr>
        <p:spPr>
          <a:xfrm>
            <a:off x="2639908" y="2442126"/>
            <a:ext cx="310896" cy="310896"/>
          </a:xfrm>
          <a:prstGeom prst="ellipse">
            <a:avLst/>
          </a:prstGeom>
          <a:solidFill>
            <a:srgbClr val="F6C4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731348" y="2551854"/>
            <a:ext cx="32004" cy="32004"/>
          </a:xfrm>
          <a:prstGeom prst="ellipse">
            <a:avLst/>
          </a:prstGeom>
          <a:solidFill>
            <a:srgbClr val="26273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841076" y="2551854"/>
            <a:ext cx="32004" cy="32004"/>
          </a:xfrm>
          <a:prstGeom prst="ellipse">
            <a:avLst/>
          </a:prstGeom>
          <a:solidFill>
            <a:srgbClr val="26273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49636" y="2588430"/>
            <a:ext cx="100584" cy="9144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ctr"/>
            <a:r>
              <a:rPr sz="900" b="1">
                <a:solidFill>
                  <a:srgbClr val="262730"/>
                </a:solidFill>
                <a:latin typeface="Aptos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94188" y="2807886"/>
            <a:ext cx="438912" cy="1828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/>
            <a:r>
              <a:rPr sz="700" b="1" dirty="0">
                <a:solidFill>
                  <a:srgbClr val="262730"/>
                </a:solidFill>
                <a:latin typeface="Aptos"/>
              </a:rPr>
              <a:t>Neutral</a:t>
            </a:r>
          </a:p>
        </p:txBody>
      </p:sp>
      <p:sp>
        <p:nvSpPr>
          <p:cNvPr id="86" name="Oval 85"/>
          <p:cNvSpPr/>
          <p:nvPr/>
        </p:nvSpPr>
        <p:spPr>
          <a:xfrm>
            <a:off x="3033100" y="2442126"/>
            <a:ext cx="310896" cy="310896"/>
          </a:xfrm>
          <a:prstGeom prst="ellipse">
            <a:avLst/>
          </a:prstGeom>
          <a:solidFill>
            <a:srgbClr val="FF4B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124540" y="2551854"/>
            <a:ext cx="32004" cy="32004"/>
          </a:xfrm>
          <a:prstGeom prst="ellipse">
            <a:avLst/>
          </a:prstGeom>
          <a:solidFill>
            <a:srgbClr val="26273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234268" y="2551854"/>
            <a:ext cx="32004" cy="32004"/>
          </a:xfrm>
          <a:prstGeom prst="ellipse">
            <a:avLst/>
          </a:prstGeom>
          <a:solidFill>
            <a:srgbClr val="26273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138256" y="2597574"/>
            <a:ext cx="109728" cy="109728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algn="ctr"/>
            <a:r>
              <a:rPr sz="1000" b="1">
                <a:solidFill>
                  <a:srgbClr val="262730"/>
                </a:solidFill>
                <a:latin typeface="Aptos"/>
              </a:rPr>
              <a:t>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87380" y="2807886"/>
            <a:ext cx="438912" cy="182880"/>
          </a:xfrm>
          <a:prstGeom prst="rect">
            <a:avLst/>
          </a:prstGeom>
          <a:noFill/>
        </p:spPr>
        <p:txBody>
          <a:bodyPr wrap="square" anchor="t">
            <a:normAutofit fontScale="77500" lnSpcReduction="20000"/>
          </a:bodyPr>
          <a:lstStyle/>
          <a:p>
            <a:pPr algn="ctr"/>
            <a:r>
              <a:rPr sz="700" b="1" dirty="0">
                <a:solidFill>
                  <a:srgbClr val="262730"/>
                </a:solidFill>
                <a:latin typeface="Aptos"/>
              </a:rPr>
              <a:t>Negative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158380" y="3630846"/>
            <a:ext cx="630936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l"/>
            <a:r>
              <a:rPr sz="800" b="0" dirty="0">
                <a:solidFill>
                  <a:srgbClr val="262730"/>
                </a:solidFill>
                <a:latin typeface="Aptos"/>
              </a:rPr>
              <a:t>INPUT
rating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53908" y="3630846"/>
            <a:ext cx="69460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l"/>
            <a:r>
              <a:rPr sz="800" b="0" dirty="0">
                <a:solidFill>
                  <a:srgbClr val="262730"/>
                </a:solidFill>
                <a:latin typeface="Aptos"/>
              </a:rPr>
              <a:t>OUTPUT
sentiment</a:t>
            </a:r>
          </a:p>
        </p:txBody>
      </p:sp>
      <p:cxnSp>
        <p:nvCxnSpPr>
          <p:cNvPr id="93" name="Connector 92"/>
          <p:cNvCxnSpPr>
            <a:cxnSpLocks/>
            <a:endCxn id="92" idx="1"/>
          </p:cNvCxnSpPr>
          <p:nvPr/>
        </p:nvCxnSpPr>
        <p:spPr>
          <a:xfrm>
            <a:off x="2807604" y="3923454"/>
            <a:ext cx="146304" cy="0"/>
          </a:xfrm>
          <a:prstGeom prst="line">
            <a:avLst/>
          </a:prstGeom>
          <a:ln w="31750">
            <a:solidFill>
              <a:srgbClr val="17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3963080" y="1509438"/>
            <a:ext cx="1417320" cy="3246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072808" y="1628310"/>
            <a:ext cx="1197864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/>
            <a:r>
              <a:rPr sz="1000" b="1">
                <a:solidFill>
                  <a:srgbClr val="174A80"/>
                </a:solidFill>
                <a:latin typeface="Aptos"/>
              </a:rPr>
              <a:t>2. CLUSTERING MODEL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91096" y="1893486"/>
            <a:ext cx="1161288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dirty="0">
                <a:solidFill>
                  <a:srgbClr val="262730"/>
                </a:solidFill>
                <a:latin typeface="Aptos"/>
              </a:rPr>
              <a:t>Group similar products</a:t>
            </a:r>
          </a:p>
        </p:txBody>
      </p:sp>
      <p:sp>
        <p:nvSpPr>
          <p:cNvPr id="97" name="Oval 96"/>
          <p:cNvSpPr/>
          <p:nvPr/>
        </p:nvSpPr>
        <p:spPr>
          <a:xfrm>
            <a:off x="4310552" y="253356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4401992" y="253356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493432" y="253356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310552" y="262500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4401992" y="262500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4493432" y="262500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4310552" y="271644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4401992" y="271644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493432" y="2716446"/>
            <a:ext cx="50292" cy="50292"/>
          </a:xfrm>
          <a:prstGeom prst="ellipse">
            <a:avLst/>
          </a:prstGeom>
          <a:solidFill>
            <a:srgbClr val="21966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4804328" y="253356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4895768" y="253356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4987208" y="253356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804328" y="262500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4895768" y="262500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4987208" y="262500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4804328" y="271644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4895768" y="271644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4987208" y="2716446"/>
            <a:ext cx="50292" cy="50292"/>
          </a:xfrm>
          <a:prstGeom prst="ellipse">
            <a:avLst/>
          </a:prstGeom>
          <a:solidFill>
            <a:srgbClr val="174A8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4310552" y="308220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401992" y="308220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493432" y="308220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4310552" y="317364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4401992" y="317364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493432" y="317364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4310552" y="326508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401992" y="326508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493432" y="3265086"/>
            <a:ext cx="50292" cy="50292"/>
          </a:xfrm>
          <a:prstGeom prst="ellipse">
            <a:avLst/>
          </a:prstGeom>
          <a:solidFill>
            <a:srgbClr val="7459C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4804328" y="308220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4895768" y="308220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4987208" y="308220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4804328" y="317364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4895768" y="317364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4987208" y="317364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4804328" y="326508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4895768" y="326508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4987208" y="3265086"/>
            <a:ext cx="50292" cy="50292"/>
          </a:xfrm>
          <a:prstGeom prst="ellipse">
            <a:avLst/>
          </a:prstGeom>
          <a:solidFill>
            <a:srgbClr val="E27E2D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173392" y="3624211"/>
            <a:ext cx="996696" cy="1074263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dirty="0">
                <a:solidFill>
                  <a:srgbClr val="262730"/>
                </a:solidFill>
                <a:latin typeface="Aptos"/>
              </a:rPr>
              <a:t>Groups:
Tablet
Audio
Cable
Alexa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581568" y="1509438"/>
            <a:ext cx="1417320" cy="3246120"/>
          </a:xfrm>
          <a:prstGeom prst="roundRect">
            <a:avLst/>
          </a:prstGeom>
          <a:solidFill>
            <a:srgbClr val="FDFA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691296" y="1628310"/>
            <a:ext cx="1197864" cy="228600"/>
          </a:xfrm>
          <a:prstGeom prst="rect">
            <a:avLst/>
          </a:prstGeom>
          <a:noFill/>
        </p:spPr>
        <p:txBody>
          <a:bodyPr wrap="square" anchor="t">
            <a:normAutofit fontScale="70000" lnSpcReduction="20000"/>
          </a:bodyPr>
          <a:lstStyle/>
          <a:p>
            <a:pPr algn="ctr"/>
            <a:r>
              <a:rPr sz="1000" b="1">
                <a:solidFill>
                  <a:srgbClr val="7459C6"/>
                </a:solidFill>
                <a:latin typeface="Aptos"/>
              </a:rPr>
              <a:t>3. GENERATIVE MODEL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709584" y="1893486"/>
            <a:ext cx="1161288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dirty="0">
                <a:solidFill>
                  <a:srgbClr val="262730"/>
                </a:solidFill>
                <a:latin typeface="Aptos"/>
              </a:rPr>
              <a:t>Write short advice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901608" y="2460414"/>
            <a:ext cx="7498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l"/>
            <a:r>
              <a:rPr sz="800" b="0" dirty="0">
                <a:solidFill>
                  <a:srgbClr val="525B69"/>
                </a:solidFill>
                <a:latin typeface="Aptos"/>
              </a:rPr>
              <a:t>Best overall
———
Why
———
Watch out</a:t>
            </a:r>
          </a:p>
        </p:txBody>
      </p:sp>
      <p:sp>
        <p:nvSpPr>
          <p:cNvPr id="138" name="Oval 137"/>
          <p:cNvSpPr/>
          <p:nvPr/>
        </p:nvSpPr>
        <p:spPr>
          <a:xfrm>
            <a:off x="6111920" y="3423980"/>
            <a:ext cx="329184" cy="329184"/>
          </a:xfrm>
          <a:prstGeom prst="ellipse">
            <a:avLst/>
          </a:prstGeom>
          <a:solidFill>
            <a:srgbClr val="7459C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70000" lnSpcReduction="20000"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746160" y="3749718"/>
            <a:ext cx="107899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77500" lnSpcReduction="20000"/>
          </a:bodyPr>
          <a:lstStyle/>
          <a:p>
            <a:pPr algn="l"/>
            <a:r>
              <a:rPr sz="1200" b="0">
                <a:solidFill>
                  <a:srgbClr val="262730"/>
                </a:solidFill>
                <a:latin typeface="Aptos"/>
              </a:rPr>
              <a:t>INPUT: rankings
OUTPUT: article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200056" y="1509438"/>
            <a:ext cx="1417320" cy="32461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6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309784" y="1655742"/>
            <a:ext cx="1197864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900" b="1">
                <a:solidFill>
                  <a:srgbClr val="E27E2D"/>
                </a:solidFill>
                <a:latin typeface="Aptos"/>
              </a:rPr>
              <a:t>STREAMLIT APP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64648" y="1948350"/>
            <a:ext cx="1088136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1" dirty="0">
                <a:solidFill>
                  <a:srgbClr val="262730"/>
                </a:solidFill>
                <a:latin typeface="Aptos"/>
              </a:rPr>
              <a:t>Shopper-friendly
recommendation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364648" y="2469558"/>
            <a:ext cx="1088136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/>
          </a:bodyPr>
          <a:lstStyle/>
          <a:p>
            <a:pPr algn="l"/>
            <a:r>
              <a:rPr sz="850" b="1">
                <a:solidFill>
                  <a:srgbClr val="262730"/>
                </a:solidFill>
                <a:latin typeface="Aptos"/>
              </a:rPr>
              <a:t>Top Products for You
Best pick
Score 87
Strengths
Complaints
Watch-outs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899244" y="3137070"/>
            <a:ext cx="146304" cy="0"/>
          </a:xfrm>
          <a:prstGeom prst="line">
            <a:avLst/>
          </a:prstGeom>
          <a:ln w="31750">
            <a:solidFill>
              <a:srgbClr val="17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>
            <a:cxnSpLocks/>
            <a:stCxn id="73" idx="3"/>
            <a:endCxn id="94" idx="1"/>
          </p:cNvCxnSpPr>
          <p:nvPr/>
        </p:nvCxnSpPr>
        <p:spPr>
          <a:xfrm>
            <a:off x="3702476" y="3132498"/>
            <a:ext cx="260604" cy="0"/>
          </a:xfrm>
          <a:prstGeom prst="line">
            <a:avLst/>
          </a:prstGeom>
          <a:ln w="31750">
            <a:solidFill>
              <a:srgbClr val="17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398688" y="3137070"/>
            <a:ext cx="146304" cy="0"/>
          </a:xfrm>
          <a:prstGeom prst="line">
            <a:avLst/>
          </a:prstGeom>
          <a:ln w="31750">
            <a:solidFill>
              <a:srgbClr val="17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017176" y="3137070"/>
            <a:ext cx="146304" cy="0"/>
          </a:xfrm>
          <a:prstGeom prst="line">
            <a:avLst/>
          </a:prstGeom>
          <a:ln w="31750">
            <a:solidFill>
              <a:srgbClr val="174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Methods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85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700"/>
              </a:spcAft>
              <a:buSzPts val="1800"/>
              <a:buNone/>
            </a:pPr>
            <a:r>
              <a:rPr sz="2100" b="1" dirty="0">
                <a:solidFill>
                  <a:srgbClr val="FF4B4B"/>
                </a:solidFill>
                <a:latin typeface="Aptos"/>
              </a:rPr>
              <a:t>Simple methods, connected end to end.</a:t>
            </a:r>
          </a:p>
          <a:p>
            <a:pPr>
              <a:spcAft>
                <a:spcPts val="700"/>
              </a:spcAft>
            </a:pPr>
            <a:endParaRPr sz="21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Dataset: </a:t>
            </a:r>
            <a:r>
              <a:rPr sz="1900" b="0" dirty="0" err="1">
                <a:solidFill>
                  <a:srgbClr val="262730"/>
                </a:solidFill>
                <a:latin typeface="Aptos"/>
              </a:rPr>
              <a:t>Datafiniti</a:t>
            </a:r>
            <a:r>
              <a:rPr sz="1900" b="0" dirty="0">
                <a:solidFill>
                  <a:srgbClr val="262730"/>
                </a:solidFill>
                <a:latin typeface="Aptos"/>
              </a:rPr>
              <a:t> Amazon reviews, 57,418 usable rows.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Main columns: product name, review text, rating, categories.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Ranking combines rating, positive share, and review volume.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2000" y="3024632"/>
            <a:ext cx="1100000" cy="55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CSV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1922000" y="3189632"/>
            <a:ext cx="180000" cy="220000"/>
          </a:xfrm>
          <a:prstGeom prst="rightArrow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2102000" y="3024632"/>
            <a:ext cx="1100000" cy="55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Clean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3202000" y="3189632"/>
            <a:ext cx="180000" cy="220000"/>
          </a:xfrm>
          <a:prstGeom prst="rightArrow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3382000" y="3024632"/>
            <a:ext cx="1100000" cy="55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Sentiment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4482000" y="3189632"/>
            <a:ext cx="180000" cy="220000"/>
          </a:xfrm>
          <a:prstGeom prst="rightArrow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4662000" y="3024632"/>
            <a:ext cx="1100000" cy="55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Cluster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5762000" y="3189632"/>
            <a:ext cx="180000" cy="220000"/>
          </a:xfrm>
          <a:prstGeom prst="rightArrow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942000" y="3024632"/>
            <a:ext cx="1100000" cy="55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Rank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7042000" y="3189632"/>
            <a:ext cx="180000" cy="220000"/>
          </a:xfrm>
          <a:prstGeom prst="rightArrow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7222000" y="3024632"/>
            <a:ext cx="1100000" cy="5500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/>
          <a:lstStyle/>
          <a:p>
            <a:pPr algn="ctr"/>
            <a:r>
              <a:rPr sz="1100" b="1">
                <a:solidFill>
                  <a:srgbClr val="212121"/>
                </a:solidFill>
                <a:latin typeface="Calibri"/>
              </a:rPr>
              <a:t>Article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500000" y="3724632"/>
            <a:ext cx="6144000" cy="400000"/>
          </a:xfrm>
          <a:prstGeom prst="roundRect">
            <a:avLst/>
          </a:prstGeom>
          <a:solidFill>
            <a:srgbClr val="FFF4E0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rm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262730"/>
                </a:solidFill>
                <a:latin typeface="Aptos"/>
              </a:rPr>
              <a:t>Ranking score = rating + sentiment + review volume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Model 1 - Sentiment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442834" cy="2437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Sentiment starts with a clear rule.</a:t>
            </a:r>
          </a:p>
          <a:p>
            <a:pPr>
              <a:spcAft>
                <a:spcPts val="700"/>
              </a:spcAft>
            </a:pPr>
            <a:endParaRPr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1-2 stars = negative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3 stars = neutral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4-5 stars = positive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Why this works here: it is transparent, fast, and enough for product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Sentiment result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61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100" b="1" dirty="0">
                <a:solidFill>
                  <a:srgbClr val="FF4B4B"/>
                </a:solidFill>
                <a:latin typeface="Aptos"/>
              </a:rPr>
              <a:t>The signal is useful, but not perfect.</a:t>
            </a:r>
          </a:p>
          <a:p>
            <a:pPr>
              <a:spcAft>
                <a:spcPts val="700"/>
              </a:spcAft>
            </a:pPr>
            <a:endParaRPr sz="21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Most reviews are positive, which matches consumer-product review data.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Neutral and negative reviews are still important because they reveal common complaints.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Limitation: ratings can miss sarcasm or mixed opinions.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2000" y="3594167"/>
            <a:ext cx="2400000" cy="1000000"/>
          </a:xfrm>
          <a:prstGeom prst="round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2ECC71"/>
                </a:solidFill>
                <a:latin typeface="Aptos"/>
              </a:rPr>
              <a:t>91.6%</a:t>
            </a:r>
          </a:p>
          <a:p>
            <a:pPr algn="ctr">
              <a:spcAft>
                <a:spcPts val="700"/>
              </a:spcAft>
            </a:pPr>
            <a:r>
              <a:rPr sz="2000" b="0">
                <a:solidFill>
                  <a:srgbClr val="525B69"/>
                </a:solidFill>
                <a:latin typeface="Aptos"/>
              </a:rPr>
              <a:t>positive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72000" y="3594167"/>
            <a:ext cx="2400000" cy="1000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 dirty="0">
                <a:solidFill>
                  <a:srgbClr val="FF4B4B"/>
                </a:solidFill>
                <a:latin typeface="Aptos"/>
              </a:rPr>
              <a:t>4.5%</a:t>
            </a:r>
          </a:p>
          <a:p>
            <a:pPr algn="ctr">
              <a:spcAft>
                <a:spcPts val="700"/>
              </a:spcAft>
            </a:pPr>
            <a:r>
              <a:rPr sz="2000" b="0" dirty="0">
                <a:solidFill>
                  <a:srgbClr val="525B69"/>
                </a:solidFill>
                <a:highlight>
                  <a:srgbClr val="C0C0C0"/>
                </a:highlight>
                <a:latin typeface="Aptos"/>
              </a:rPr>
              <a:t>neutral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22000" y="3594167"/>
            <a:ext cx="2400000" cy="1000000"/>
          </a:xfrm>
          <a:prstGeom prst="round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FF4B4B"/>
                </a:solidFill>
                <a:latin typeface="Aptos"/>
              </a:rPr>
              <a:t>4.0%</a:t>
            </a:r>
          </a:p>
          <a:p>
            <a:pPr algn="ctr">
              <a:spcAft>
                <a:spcPts val="700"/>
              </a:spcAft>
            </a:pPr>
            <a:r>
              <a:rPr sz="2000" b="0">
                <a:solidFill>
                  <a:srgbClr val="525B69"/>
                </a:solidFill>
                <a:latin typeface="Aptos"/>
              </a:rPr>
              <a:t>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Model 2 - Clustering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000000" cy="2919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Clustering makes the catalogue understandable.</a:t>
            </a:r>
          </a:p>
          <a:p>
            <a:pPr>
              <a:spcAft>
                <a:spcPts val="700"/>
              </a:spcAft>
            </a:pPr>
            <a:endParaRPr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TF-IDF turns product/category text into features.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 err="1">
                <a:solidFill>
                  <a:srgbClr val="262730"/>
                </a:solidFill>
                <a:latin typeface="Aptos"/>
              </a:rPr>
              <a:t>KMeans</a:t>
            </a:r>
            <a:r>
              <a:rPr sz="2000" b="0" dirty="0">
                <a:solidFill>
                  <a:srgbClr val="262730"/>
                </a:solidFill>
                <a:latin typeface="Aptos"/>
              </a:rPr>
              <a:t> groups products into readable categories.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The app uses 6 groups so the demo stays easy to explain.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832300" y="1300000"/>
            <a:ext cx="2900000" cy="1700000"/>
          </a:xfrm>
          <a:prstGeom prst="roundRect">
            <a:avLst/>
          </a:prstGeom>
          <a:solidFill>
            <a:srgbClr val="EEEEE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rm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262730"/>
                </a:solidFill>
                <a:latin typeface="Aptos"/>
              </a:rPr>
              <a:t>Discovered groups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2730"/>
                </a:solidFill>
                <a:latin typeface="Aptos"/>
              </a:rPr>
              <a:t>Cable, Tablet, Speaker Audio, Laptop Tablet, Bag Audio Pockets, Remote Voice Alexa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Clustering result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The choice is practical, not overcomplicated.</a:t>
            </a:r>
          </a:p>
          <a:p>
            <a:pPr>
              <a:spcAft>
                <a:spcPts val="700"/>
              </a:spcAft>
            </a:pPr>
            <a:endParaRPr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Silhouette scores were checked across different k values.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k = 6 gives a good balance between quality and readability.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The groups are understandable enough for the buying-guide flow.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72000" y="3863500"/>
            <a:ext cx="2200000" cy="90000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 dirty="0">
                <a:solidFill>
                  <a:srgbClr val="FF4B4B"/>
                </a:solidFill>
                <a:latin typeface="Aptos"/>
              </a:rPr>
              <a:t>k = 6</a:t>
            </a:r>
          </a:p>
          <a:p>
            <a:pPr algn="ctr">
              <a:spcAft>
                <a:spcPts val="700"/>
              </a:spcAft>
            </a:pPr>
            <a:r>
              <a:rPr sz="2000" b="0" dirty="0">
                <a:solidFill>
                  <a:srgbClr val="525B69"/>
                </a:solidFill>
                <a:latin typeface="Aptos"/>
              </a:rPr>
              <a:t>chosen for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Model 3 - Article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5000000" cy="3698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100" b="1" dirty="0">
                <a:solidFill>
                  <a:srgbClr val="FF4B4B"/>
                </a:solidFill>
                <a:latin typeface="Aptos"/>
              </a:rPr>
              <a:t>The final output is human-readable advice.</a:t>
            </a:r>
            <a:endParaRPr lang="en-US" sz="2100" b="1" dirty="0">
              <a:solidFill>
                <a:srgbClr val="FF4B4B"/>
              </a:solidFill>
              <a:latin typeface="Aptos"/>
            </a:endParaRPr>
          </a:p>
          <a:p>
            <a:pPr marL="114300" indent="0">
              <a:spcAft>
                <a:spcPts val="700"/>
              </a:spcAft>
              <a:buNone/>
            </a:pPr>
            <a:endParaRPr lang="en-US" sz="21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FLAN-T5 writes a short article from category insights.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It receives aggregated facts only: top products, scores, and complaints.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1900" b="0" dirty="0">
                <a:solidFill>
                  <a:srgbClr val="262730"/>
                </a:solidFill>
                <a:latin typeface="Aptos"/>
              </a:rPr>
              <a:t>A deterministic fallback keeps the app reliable if generation is weak.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103446" y="1299999"/>
            <a:ext cx="3628854" cy="3263533"/>
          </a:xfrm>
          <a:prstGeom prst="roundRect">
            <a:avLst/>
          </a:prstGeom>
          <a:solidFill>
            <a:srgbClr val="E8F4FD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rmAutofit/>
          </a:bodyPr>
          <a:lstStyle/>
          <a:p>
            <a:pPr algn="l">
              <a:spcAft>
                <a:spcPts val="700"/>
              </a:spcAft>
            </a:pPr>
            <a:r>
              <a:rPr sz="1500" b="1" dirty="0">
                <a:solidFill>
                  <a:srgbClr val="262730"/>
                </a:solidFill>
                <a:latin typeface="Aptos"/>
              </a:rPr>
              <a:t>Example article output</a:t>
            </a: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262730"/>
                </a:solidFill>
                <a:latin typeface="Aptos"/>
              </a:rPr>
              <a:t>Best overall: Amazon 9W </a:t>
            </a:r>
            <a:r>
              <a:rPr sz="1500" b="1" dirty="0" err="1">
                <a:solidFill>
                  <a:srgbClr val="262730"/>
                </a:solidFill>
                <a:latin typeface="Aptos"/>
              </a:rPr>
              <a:t>PowerFast</a:t>
            </a:r>
            <a:r>
              <a:rPr sz="1500" b="1" dirty="0">
                <a:solidFill>
                  <a:srgbClr val="262730"/>
                </a:solidFill>
                <a:latin typeface="Aptos"/>
              </a:rPr>
              <a:t> charger</a:t>
            </a: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262730"/>
                </a:solidFill>
                <a:latin typeface="Aptos"/>
              </a:rPr>
              <a:t>Why: strong rating, high positive share, enough reviews</a:t>
            </a:r>
          </a:p>
          <a:p>
            <a:pPr>
              <a:spcAft>
                <a:spcPts val="700"/>
              </a:spcAft>
            </a:pPr>
            <a:r>
              <a:rPr sz="1500" b="1" dirty="0">
                <a:solidFill>
                  <a:srgbClr val="262730"/>
                </a:solidFill>
                <a:latin typeface="Aptos"/>
              </a:rPr>
              <a:t>Watch out: charge, app, battery, screen, and </a:t>
            </a:r>
            <a:r>
              <a:rPr sz="1500" b="1" dirty="0" err="1">
                <a:solidFill>
                  <a:srgbClr val="262730"/>
                </a:solidFill>
                <a:latin typeface="Aptos"/>
              </a:rPr>
              <a:t>wifi</a:t>
            </a:r>
            <a:r>
              <a:rPr sz="1500" b="1" dirty="0">
                <a:solidFill>
                  <a:srgbClr val="262730"/>
                </a:solidFill>
                <a:latin typeface="Aptos"/>
              </a:rPr>
              <a:t>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Article quality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564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The goal is useful output, not fancy text.</a:t>
            </a:r>
            <a:endParaRPr lang="en-US"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endParaRPr lang="en-US"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Each category gets one article.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The article must include a best pick, alternatives, warnings, and a bottom line.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The fallback makes the demo stable even when the LLM is slow.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72000" y="3813500"/>
            <a:ext cx="2700000" cy="95000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FF4B4B"/>
                </a:solidFill>
                <a:latin typeface="Aptos"/>
              </a:rPr>
              <a:t>6</a:t>
            </a:r>
          </a:p>
          <a:p>
            <a:pPr algn="ctr">
              <a:spcAft>
                <a:spcPts val="700"/>
              </a:spcAft>
            </a:pPr>
            <a:r>
              <a:rPr sz="2000" b="0">
                <a:solidFill>
                  <a:srgbClr val="525B69"/>
                </a:solidFill>
                <a:latin typeface="Aptos"/>
              </a:rPr>
              <a:t>articles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222000" y="3813500"/>
            <a:ext cx="2700000" cy="950000"/>
          </a:xfrm>
          <a:prstGeom prst="round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2ECC71"/>
                </a:solidFill>
                <a:latin typeface="Aptos"/>
              </a:rPr>
              <a:t>0</a:t>
            </a:r>
          </a:p>
          <a:p>
            <a:pPr algn="ctr">
              <a:spcAft>
                <a:spcPts val="700"/>
              </a:spcAft>
            </a:pPr>
            <a:r>
              <a:rPr sz="2000" b="0">
                <a:solidFill>
                  <a:srgbClr val="525B69"/>
                </a:solidFill>
                <a:latin typeface="Aptos"/>
              </a:rPr>
              <a:t>raw reviews sent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072000" y="3813500"/>
            <a:ext cx="2700000" cy="950000"/>
          </a:xfrm>
          <a:prstGeom prst="round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FF4B4B"/>
                </a:solidFill>
                <a:latin typeface="Aptos"/>
              </a:rPr>
              <a:t>Yes</a:t>
            </a:r>
          </a:p>
          <a:p>
            <a:pPr algn="ctr">
              <a:spcAft>
                <a:spcPts val="700"/>
              </a:spcAft>
            </a:pPr>
            <a:r>
              <a:rPr sz="2000" b="0">
                <a:solidFill>
                  <a:srgbClr val="525B69"/>
                </a:solidFill>
                <a:latin typeface="Aptos"/>
              </a:rPr>
              <a:t>fallback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Takeaway</a:t>
            </a:r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792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700"/>
              </a:spcAft>
              <a:buSzPts val="1800"/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A simple product built from several small parts.</a:t>
            </a:r>
          </a:p>
          <a:p>
            <a:pPr>
              <a:spcAft>
                <a:spcPts val="700"/>
              </a:spcAft>
            </a:pPr>
            <a:endParaRPr sz="2200" b="1" dirty="0">
              <a:solidFill>
                <a:srgbClr val="FF4B4B"/>
              </a:solidFill>
              <a:latin typeface="Aptos"/>
            </a:endParaRP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 err="1">
                <a:solidFill>
                  <a:srgbClr val="262730"/>
                </a:solidFill>
                <a:latin typeface="Aptos"/>
              </a:rPr>
              <a:t>BestOf</a:t>
            </a:r>
            <a:r>
              <a:rPr sz="2000" b="0" dirty="0">
                <a:solidFill>
                  <a:srgbClr val="262730"/>
                </a:solidFill>
                <a:latin typeface="Aptos"/>
              </a:rPr>
              <a:t> is an end-to-end ML product.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It connects data cleaning, sentiment, clustering, ranking, text generation, API, UI, Docker, and EC2.</a:t>
            </a:r>
          </a:p>
          <a:p>
            <a:pPr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The main value: the user gets a recommendation they can understand.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67000" y="4213500"/>
            <a:ext cx="1450000" cy="55000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257000" y="4213500"/>
            <a:ext cx="1450000" cy="550000"/>
          </a:xfrm>
          <a:prstGeom prst="round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847000" y="4213500"/>
            <a:ext cx="1450000" cy="550000"/>
          </a:xfrm>
          <a:prstGeom prst="round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37000" y="4213500"/>
            <a:ext cx="1450000" cy="550000"/>
          </a:xfrm>
          <a:prstGeom prst="round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EC2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027000" y="4213500"/>
            <a:ext cx="1450000" cy="550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Hugging 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700"/>
              </a:spcAft>
              <a:buNone/>
            </a:pPr>
            <a:r>
              <a:rPr sz="3000" b="1">
                <a:solidFill>
                  <a:srgbClr val="262730"/>
                </a:solidFill>
                <a:latin typeface="Aptos"/>
              </a:rPr>
              <a:t>Demo</a:t>
            </a: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293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700"/>
              </a:spcAft>
              <a:buSzPts val="1800"/>
              <a:buNone/>
            </a:pPr>
            <a:r>
              <a:rPr sz="2200" b="1" dirty="0">
                <a:solidFill>
                  <a:srgbClr val="FF4B4B"/>
                </a:solidFill>
                <a:latin typeface="Aptos"/>
              </a:rPr>
              <a:t>Three minutes: from upload to recommendation.</a:t>
            </a:r>
          </a:p>
          <a:p>
            <a:pPr>
              <a:spcAft>
                <a:spcPts val="700"/>
              </a:spcAft>
            </a:pPr>
            <a:endParaRPr sz="2200" b="1" dirty="0">
              <a:solidFill>
                <a:srgbClr val="FF4B4B"/>
              </a:solidFill>
              <a:latin typeface="Aptos"/>
            </a:endParaRPr>
          </a:p>
          <a:p>
            <a:pPr marL="114300" indent="0">
              <a:spcAft>
                <a:spcPts val="700"/>
              </a:spcAft>
              <a:buNone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1. Open the deployed </a:t>
            </a:r>
            <a:r>
              <a:rPr sz="2000" b="0" dirty="0" err="1">
                <a:solidFill>
                  <a:srgbClr val="262730"/>
                </a:solidFill>
                <a:latin typeface="Aptos"/>
              </a:rPr>
              <a:t>Streamlit</a:t>
            </a:r>
            <a:r>
              <a:rPr sz="2000" b="0" dirty="0">
                <a:solidFill>
                  <a:srgbClr val="262730"/>
                </a:solidFill>
                <a:latin typeface="Aptos"/>
              </a:rPr>
              <a:t> app.</a:t>
            </a:r>
          </a:p>
          <a:p>
            <a:pPr marL="114300" indent="0">
              <a:spcAft>
                <a:spcPts val="700"/>
              </a:spcAft>
              <a:buNone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2. Process the review CSV.</a:t>
            </a:r>
          </a:p>
          <a:p>
            <a:pPr marL="114300" indent="0">
              <a:spcAft>
                <a:spcPts val="700"/>
              </a:spcAft>
              <a:buNone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3. Pick a category.</a:t>
            </a:r>
          </a:p>
          <a:p>
            <a:pPr marL="114300" indent="0">
              <a:spcAft>
                <a:spcPts val="700"/>
              </a:spcAft>
              <a:buNone/>
            </a:pPr>
            <a:r>
              <a:rPr sz="2000" b="0" dirty="0">
                <a:solidFill>
                  <a:srgbClr val="262730"/>
                </a:solidFill>
                <a:latin typeface="Aptos"/>
              </a:rPr>
              <a:t>4. Generate the buying guide.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500000" y="3563499"/>
            <a:ext cx="6144000" cy="836563"/>
          </a:xfrm>
          <a:prstGeom prst="roundRect">
            <a:avLst/>
          </a:prstGeom>
          <a:solidFill>
            <a:srgbClr val="E8F4FD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 rtlCol="0" anchor="t">
            <a:normAutofit/>
          </a:bodyPr>
          <a:lstStyle/>
          <a:p>
            <a:pPr algn="ctr">
              <a:spcAft>
                <a:spcPts val="700"/>
              </a:spcAft>
            </a:pPr>
            <a:r>
              <a:rPr sz="1500" b="1" dirty="0">
                <a:solidFill>
                  <a:srgbClr val="262730"/>
                </a:solidFill>
                <a:latin typeface="Aptos"/>
              </a:rPr>
              <a:t>Live deployment</a:t>
            </a:r>
            <a:r>
              <a:rPr lang="de-DE" sz="1500" b="1" dirty="0">
                <a:solidFill>
                  <a:srgbClr val="262730"/>
                </a:solidFill>
                <a:latin typeface="Aptos"/>
              </a:rPr>
              <a:t> on AWS</a:t>
            </a:r>
            <a:endParaRPr sz="1500" b="1" dirty="0">
              <a:solidFill>
                <a:srgbClr val="262730"/>
              </a:solidFill>
              <a:latin typeface="Aptos"/>
            </a:endParaRPr>
          </a:p>
          <a:p>
            <a:pPr algn="ctr">
              <a:spcAft>
                <a:spcPts val="700"/>
              </a:spcAft>
            </a:pPr>
            <a:r>
              <a:rPr sz="1500" b="1" dirty="0">
                <a:solidFill>
                  <a:srgbClr val="262730"/>
                </a:solidFill>
                <a:latin typeface="Aptos"/>
                <a:hlinkClick r:id="rId3"/>
              </a:rPr>
              <a:t>http://18.157.233.122:8501/</a:t>
            </a:r>
            <a:endParaRPr sz="1500" b="1" dirty="0">
              <a:solidFill>
                <a:srgbClr val="26273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On-screen Show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Wingdings</vt:lpstr>
      <vt:lpstr>Simple Light</vt:lpstr>
      <vt:lpstr>BestOf</vt:lpstr>
      <vt:lpstr>The pitch</vt:lpstr>
      <vt:lpstr>BestOf pipeline</vt:lpstr>
      <vt:lpstr>Methods</vt:lpstr>
      <vt:lpstr>Model 1 - Sentiment</vt:lpstr>
      <vt:lpstr>Sentiment result</vt:lpstr>
      <vt:lpstr>Model 2 - Clustering</vt:lpstr>
      <vt:lpstr>Clustering result</vt:lpstr>
      <vt:lpstr>Model 3 - Article</vt:lpstr>
      <vt:lpstr>Article quality</vt:lpstr>
      <vt:lpstr>Takeaway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 Z</cp:lastModifiedBy>
  <cp:revision>5</cp:revision>
  <dcterms:modified xsi:type="dcterms:W3CDTF">2026-05-11T10:09:33Z</dcterms:modified>
</cp:coreProperties>
</file>