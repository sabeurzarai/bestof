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370" autoAdjust="0"/>
  </p:normalViewPr>
  <p:slideViewPr>
    <p:cSldViewPr snapToGrid="0">
      <p:cViewPr varScale="1">
        <p:scale>
          <a:sx n="101" d="100"/>
          <a:sy n="101" d="100"/>
        </p:scale>
        <p:origin x="1914" y="10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Open simple. Hi, I'm Sabeur. BestOf turns a pile of Amazon reviews into a short buying guide. I'll walk through the three models, how they connect, and end with a live demo.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0b29caa05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0b29caa05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Open with the buyer's pain: scrolling 2,000 reviews, comparing five tablets, still not deciding. BestOf removes the boring part. Mention the three numbers on screen: 28 thousand reviews became 125 products grouped into 6 categories.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0b29caa05f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0b29caa05f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Key idea: each model passes cleaner data to the next one. Sentiment turns 5-star ratings into clean labels. Clustering turns hundreds of messy categories into 4 to 6 groups. The LLM only sees the aggregated facts, never raw review text. That order is the whole architecture.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30b29caa05f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30b29caa05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Walk the pipeline left to right: CSV in, article out. Mention preprocessing: drop empties, normalise whitespace, keep ratings 1 to 5. Then explain the ranking score: rating dominates, positive ratio shapes it, review count is normalised inside each category so a noisy product cannot win on volume alone.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0b29caa05f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0b29caa05f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Two paths share this slide. The batch path uses the rating mapping because it is explainable and stable. The model path uses DistilBERT on the review text. Why both? The rating is fast and trusted for ranking. The model lets the API answer single-text questions and gives me a real metric to evaluate against.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0b29caa05f_0_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0b29caa05f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Read the headline numbers on the right. 91.6% of reviews land in the positive class, which matches consumer review datasets. Macro F1 is around 0.82, which is honest for a 3-class collapse from a binary model. The interesting failure case is a 5-star rating with an angry review body. The model often catches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30b29caa05f_0_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30b29caa05f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Show the cluster name examples on the right: Tablet, Speaker Audio, Cable, etc. These were not hand-labelled. The pipeline picked the most common keywords per cluster. Why MiniLM? It is small, fast, and good enough for short product documents. I do not need a 1B parameter model to tell tablets and speakers apart.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0b29caa05f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30b29caa05f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Be honest here. Higher k can score better on silhouette, but a 12-category guide is not human-readable. I chose k = 6 because the buying guide is meant to be skimmed, not studied. The eyeball test matters: pure metrics can hide bad cluster names.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0b29caa05f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0b29caa05f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Read the sample on the right. The article names a real product, gives a rating and positive ratio, and ends with the common complaints. Important point: privacy and reliability. The LLM never reads customer review text. It only sees the structured insight. That keeps the prompt clean and prevents the model from quoting reviews back at the user.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0b29caa05f_0_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0b29caa05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Explain the gate. ROUGE here measures coverage, not truth. Both texts are built from the same facts, so what I really care about is: did the LLM mention the same products? If it dropped a section under repetition penalties, the gate fails and the deterministic article ships. The user always gets a clean, complete result.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0b29caa05f_0_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30b29caa05f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Wrap with the philosophy: simple, explainable choices, connected cleanly. The hardest part was not the models. It was making the pipeline reliable enough to ship. Bonus: it is Dockerised and EC2-deployed, so this is not a notebook demo.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0b29caa05f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30b29caa05f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Live demo path: open the deployed URL, upload the included CSV, click Process reviews, then pick a category and generate. While the model loads, narrate what the API is doing. If the network is slow, switch to the screenshots in BESTOF_USER_GUIDE_DEPLOYMENT.md.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0b6cb3b851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30b6cb3b851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Close on what is next, not on what is done. Then thank the audience and invite questions. Keep it warm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844676" y="781525"/>
            <a:ext cx="7882200" cy="152785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BestOf</a:t>
            </a:r>
            <a:endParaRPr dirty="0"/>
          </a:p>
        </p:txBody>
      </p:sp>
      <p:sp>
        <p:nvSpPr>
          <p:cNvPr id="55" name="Google Shape;55;p13"/>
          <p:cNvSpPr txBox="1">
            <a:spLocks noGrp="1"/>
          </p:cNvSpPr>
          <p:nvPr>
            <p:ph type="subTitle" idx="1"/>
          </p:nvPr>
        </p:nvSpPr>
        <p:spPr>
          <a:xfrm>
            <a:off x="311700" y="2309375"/>
            <a:ext cx="8520600" cy="1317350"/>
          </a:xfrm>
          <a:prstGeom prst="rect">
            <a:avLst/>
          </a:prstGeom>
        </p:spPr>
        <p:txBody>
          <a:bodyPr spcFirstLastPara="1" wrap="square" lIns="91425" tIns="91425" rIns="91425" bIns="91425" anchor="t" anchorCtr="0">
            <a:normAutofit fontScale="92500" lnSpcReduction="10000"/>
          </a:bodyPr>
          <a:lstStyle/>
          <a:p>
            <a:pPr marL="0" lvl="0" indent="0" algn="ctr" rtl="0">
              <a:spcBef>
                <a:spcPts val="0"/>
              </a:spcBef>
              <a:spcAft>
                <a:spcPts val="0"/>
              </a:spcAft>
              <a:buNone/>
            </a:pPr>
            <a:r>
              <a:rPr lang="en" dirty="0"/>
              <a:t>Amazon reviews to clear buying advice</a:t>
            </a:r>
          </a:p>
          <a:p>
            <a:pPr marL="0" lvl="0" indent="0" algn="ctr" rtl="0">
              <a:spcBef>
                <a:spcPts val="0"/>
              </a:spcBef>
              <a:spcAft>
                <a:spcPts val="0"/>
              </a:spcAft>
              <a:buNone/>
            </a:pPr>
            <a:r>
              <a:rPr lang="en" dirty="0"/>
              <a:t>Streamlit + FastAPI, deployed on EC2</a:t>
            </a:r>
          </a:p>
          <a:p>
            <a:pPr marL="0" lvl="0" indent="0" algn="ctr" rtl="0">
              <a:spcBef>
                <a:spcPts val="0"/>
              </a:spcBef>
              <a:spcAft>
                <a:spcPts val="0"/>
              </a:spcAft>
              <a:buNone/>
            </a:pPr>
            <a:r>
              <a:rPr lang="en" dirty="0"/>
              <a:t>by Sabeur Zarai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The pitch</a:t>
            </a:r>
            <a:endParaRPr/>
          </a:p>
        </p:txBody>
      </p:sp>
      <p:sp>
        <p:nvSpPr>
          <p:cNvPr id="61" name="Google Shape;61;p14"/>
          <p:cNvSpPr txBox="1">
            <a:spLocks noGrp="1"/>
          </p:cNvSpPr>
          <p:nvPr>
            <p:ph type="body" idx="1"/>
          </p:nvPr>
        </p:nvSpPr>
        <p:spPr>
          <a:xfrm>
            <a:off x="311700" y="1152475"/>
            <a:ext cx="8520600" cy="1700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Buyers drown in reviews and still leave the page unsure.</a:t>
            </a:r>
          </a:p>
          <a:p>
            <a:pPr marL="0" lvl="0" indent="0" algn="l" rtl="0">
              <a:spcBef>
                <a:spcPts val="0"/>
              </a:spcBef>
              <a:spcAft>
                <a:spcPts val="0"/>
              </a:spcAft>
              <a:buNone/>
            </a:pPr>
            <a:r>
              <a:rPr lang="en"/>
              <a:t>BestOf reads them, groups similar products, picks the best, and writes a guide.</a:t>
            </a:r>
          </a:p>
          <a:p>
            <a:pPr marL="0" lvl="0" indent="0" algn="l" rtl="0">
              <a:spcBef>
                <a:spcPts val="0"/>
              </a:spcBef>
              <a:spcAft>
                <a:spcPts val="0"/>
              </a:spcAft>
              <a:buNone/>
            </a:pPr>
            <a:r>
              <a:rPr lang="en"/>
              <a:t>Upload a CSV, click a button, get a Wirecutter-style article per category.</a:t>
            </a:r>
          </a:p>
        </p:txBody>
      </p:sp>
      <p:sp>
        <p:nvSpPr>
          <p:cNvPr id="62" name="Rounded Rectangle 61"/>
          <p:cNvSpPr/>
          <p:nvPr/>
        </p:nvSpPr>
        <p:spPr>
          <a:xfrm>
            <a:off x="822000" y="3763500"/>
            <a:ext cx="2400000" cy="1100000"/>
          </a:xfrm>
          <a:prstGeom prst="round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28k+</a:t>
            </a:r>
          </a:p>
          <a:p>
            <a:pPr algn="ctr"/>
            <a:r>
              <a:rPr sz="1100">
                <a:solidFill>
                  <a:srgbClr val="FFFFFF"/>
                </a:solidFill>
                <a:latin typeface="Calibri"/>
              </a:rPr>
              <a:t>clean reviews</a:t>
            </a:r>
          </a:p>
        </p:txBody>
      </p:sp>
      <p:sp>
        <p:nvSpPr>
          <p:cNvPr id="63" name="Rounded Rectangle 62"/>
          <p:cNvSpPr/>
          <p:nvPr/>
        </p:nvSpPr>
        <p:spPr>
          <a:xfrm>
            <a:off x="3372000" y="3763500"/>
            <a:ext cx="2400000" cy="1100000"/>
          </a:xfrm>
          <a:prstGeom prst="round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125</a:t>
            </a:r>
          </a:p>
          <a:p>
            <a:pPr algn="ctr"/>
            <a:r>
              <a:rPr sz="1100">
                <a:solidFill>
                  <a:srgbClr val="FFFFFF"/>
                </a:solidFill>
                <a:latin typeface="Calibri"/>
              </a:rPr>
              <a:t>unique products</a:t>
            </a:r>
          </a:p>
        </p:txBody>
      </p:sp>
      <p:sp>
        <p:nvSpPr>
          <p:cNvPr id="64" name="Rounded Rectangle 63"/>
          <p:cNvSpPr/>
          <p:nvPr/>
        </p:nvSpPr>
        <p:spPr>
          <a:xfrm>
            <a:off x="5922000" y="3763500"/>
            <a:ext cx="2400000" cy="1100000"/>
          </a:xfrm>
          <a:prstGeom prst="round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6</a:t>
            </a:r>
          </a:p>
          <a:p>
            <a:pPr algn="ctr"/>
            <a:r>
              <a:rPr sz="1100">
                <a:solidFill>
                  <a:srgbClr val="FFFFFF"/>
                </a:solidFill>
                <a:latin typeface="Calibri"/>
              </a:rPr>
              <a:t>category groups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Introduction</a:t>
            </a:r>
            <a:endParaRPr/>
          </a:p>
        </p:txBody>
      </p:sp>
      <p:sp>
        <p:nvSpPr>
          <p:cNvPr id="67" name="Google Shape;6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One product, three small models that build on each other.</a:t>
            </a:r>
          </a:p>
          <a:p>
            <a:pPr marL="0" lvl="0" indent="0" algn="l" rtl="0">
              <a:spcBef>
                <a:spcPts val="0"/>
              </a:spcBef>
              <a:spcAft>
                <a:spcPts val="0"/>
              </a:spcAft>
              <a:buNone/>
            </a:pPr>
            <a:r>
              <a:rPr lang="en"/>
              <a:t>Sentiment labels every review. Clustering organises noisy categories.</a:t>
            </a:r>
          </a:p>
          <a:p>
            <a:pPr marL="0" lvl="0" indent="0" algn="l" rtl="0">
              <a:spcBef>
                <a:spcPts val="0"/>
              </a:spcBef>
              <a:spcAft>
                <a:spcPts val="0"/>
              </a:spcAft>
              <a:buNone/>
            </a:pPr>
            <a:r>
              <a:rPr lang="en"/>
              <a:t>A small generative model writes the article from aggregated facts only.</a:t>
            </a:r>
          </a:p>
          <a:p>
            <a:pPr marL="0" lvl="0" indent="0" algn="l" rtl="0">
              <a:spcBef>
                <a:spcPts val="0"/>
              </a:spcBef>
              <a:spcAft>
                <a:spcPts val="0"/>
              </a:spcAft>
              <a:buNone/>
            </a:pPr>
            <a:r>
              <a:rPr lang="en"/>
              <a:t>FastAPI is the engine, Streamlit is the friendly front door.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Methods</a:t>
            </a:r>
            <a:endParaRPr/>
          </a:p>
        </p:txBody>
      </p:sp>
      <p:sp>
        <p:nvSpPr>
          <p:cNvPr id="73" name="Google Shape;73;p16"/>
          <p:cNvSpPr txBox="1">
            <a:spLocks noGrp="1"/>
          </p:cNvSpPr>
          <p:nvPr>
            <p:ph type="body" idx="1"/>
          </p:nvPr>
        </p:nvSpPr>
        <p:spPr>
          <a:xfrm>
            <a:off x="311700" y="1152475"/>
            <a:ext cx="8520600" cy="14000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Dataset: Datafiniti Amazon Consumer Reviews (~28k after cleaning).</a:t>
            </a:r>
          </a:p>
          <a:p>
            <a:pPr marL="457200" lvl="0" indent="-342900" algn="l" rtl="0">
              <a:spcBef>
                <a:spcPts val="0"/>
              </a:spcBef>
              <a:spcAft>
                <a:spcPts val="0"/>
              </a:spcAft>
              <a:buSzPts val="1800"/>
              <a:buChar char="●"/>
            </a:pPr>
            <a:r>
              <a:rPr lang="en"/>
              <a:t>Required columns: name, review text, rating, categories.</a:t>
            </a:r>
          </a:p>
          <a:p>
            <a:pPr marL="457200" lvl="0" indent="-342900" algn="l" rtl="0">
              <a:spcBef>
                <a:spcPts val="0"/>
              </a:spcBef>
              <a:spcAft>
                <a:spcPts val="0"/>
              </a:spcAft>
              <a:buSzPts val="1800"/>
              <a:buChar char="●"/>
            </a:pPr>
            <a:r>
              <a:rPr lang="en"/>
              <a:t>Ranking score per category: 0.5 rating + 0.3 positive ratio + 0.2 review count.</a:t>
            </a:r>
          </a:p>
        </p:txBody>
      </p:sp>
      <p:sp>
        <p:nvSpPr>
          <p:cNvPr id="74" name="Rounded Rectangle 73"/>
          <p:cNvSpPr/>
          <p:nvPr/>
        </p:nvSpPr>
        <p:spPr>
          <a:xfrm>
            <a:off x="822000" y="3693500"/>
            <a:ext cx="1100000" cy="550000"/>
          </a:xfrm>
          <a:prstGeom prst="roundRect">
            <a:avLst/>
          </a:prstGeom>
          <a:solidFill>
            <a:srgbClr val="EEEEE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36000" rIns="36000" rtlCol="0" anchor="ctr"/>
          <a:lstStyle/>
          <a:p>
            <a:pPr algn="ctr"/>
            <a:r>
              <a:rPr sz="1100" b="1">
                <a:solidFill>
                  <a:srgbClr val="212121"/>
                </a:solidFill>
                <a:latin typeface="Calibri"/>
              </a:rPr>
              <a:t>CSV</a:t>
            </a:r>
          </a:p>
        </p:txBody>
      </p:sp>
      <p:sp>
        <p:nvSpPr>
          <p:cNvPr id="75" name="Right Arrow 74"/>
          <p:cNvSpPr/>
          <p:nvPr/>
        </p:nvSpPr>
        <p:spPr>
          <a:xfrm>
            <a:off x="1922000" y="3858500"/>
            <a:ext cx="180000" cy="220000"/>
          </a:xfrm>
          <a:prstGeom prst="rightArrow">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ounded Rectangle 75"/>
          <p:cNvSpPr/>
          <p:nvPr/>
        </p:nvSpPr>
        <p:spPr>
          <a:xfrm>
            <a:off x="2102000" y="3693500"/>
            <a:ext cx="1100000" cy="550000"/>
          </a:xfrm>
          <a:prstGeom prst="roundRect">
            <a:avLst/>
          </a:prstGeom>
          <a:solidFill>
            <a:srgbClr val="EEEEE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36000" rIns="36000" rtlCol="0" anchor="ctr"/>
          <a:lstStyle/>
          <a:p>
            <a:pPr algn="ctr"/>
            <a:r>
              <a:rPr sz="1100" b="1">
                <a:solidFill>
                  <a:srgbClr val="212121"/>
                </a:solidFill>
                <a:latin typeface="Calibri"/>
              </a:rPr>
              <a:t>Clean</a:t>
            </a:r>
          </a:p>
        </p:txBody>
      </p:sp>
      <p:sp>
        <p:nvSpPr>
          <p:cNvPr id="77" name="Right Arrow 76"/>
          <p:cNvSpPr/>
          <p:nvPr/>
        </p:nvSpPr>
        <p:spPr>
          <a:xfrm>
            <a:off x="3202000" y="3858500"/>
            <a:ext cx="180000" cy="220000"/>
          </a:xfrm>
          <a:prstGeom prst="rightArrow">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ounded Rectangle 77"/>
          <p:cNvSpPr/>
          <p:nvPr/>
        </p:nvSpPr>
        <p:spPr>
          <a:xfrm>
            <a:off x="3382000" y="3693500"/>
            <a:ext cx="1100000" cy="550000"/>
          </a:xfrm>
          <a:prstGeom prst="roundRect">
            <a:avLst/>
          </a:prstGeom>
          <a:solidFill>
            <a:srgbClr val="EEEEE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36000" rIns="36000" rtlCol="0" anchor="ctr"/>
          <a:lstStyle/>
          <a:p>
            <a:pPr algn="ctr"/>
            <a:r>
              <a:rPr sz="1100" b="1">
                <a:solidFill>
                  <a:srgbClr val="212121"/>
                </a:solidFill>
                <a:latin typeface="Calibri"/>
              </a:rPr>
              <a:t>Sentiment</a:t>
            </a:r>
          </a:p>
        </p:txBody>
      </p:sp>
      <p:sp>
        <p:nvSpPr>
          <p:cNvPr id="79" name="Right Arrow 78"/>
          <p:cNvSpPr/>
          <p:nvPr/>
        </p:nvSpPr>
        <p:spPr>
          <a:xfrm>
            <a:off x="4482000" y="3858500"/>
            <a:ext cx="180000" cy="220000"/>
          </a:xfrm>
          <a:prstGeom prst="rightArrow">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ounded Rectangle 79"/>
          <p:cNvSpPr/>
          <p:nvPr/>
        </p:nvSpPr>
        <p:spPr>
          <a:xfrm>
            <a:off x="4662000" y="3693500"/>
            <a:ext cx="1100000" cy="550000"/>
          </a:xfrm>
          <a:prstGeom prst="roundRect">
            <a:avLst/>
          </a:prstGeom>
          <a:solidFill>
            <a:srgbClr val="EEEEE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36000" rIns="36000" rtlCol="0" anchor="ctr"/>
          <a:lstStyle/>
          <a:p>
            <a:pPr algn="ctr"/>
            <a:r>
              <a:rPr sz="1100" b="1">
                <a:solidFill>
                  <a:srgbClr val="212121"/>
                </a:solidFill>
                <a:latin typeface="Calibri"/>
              </a:rPr>
              <a:t>Cluster</a:t>
            </a:r>
          </a:p>
        </p:txBody>
      </p:sp>
      <p:sp>
        <p:nvSpPr>
          <p:cNvPr id="81" name="Right Arrow 80"/>
          <p:cNvSpPr/>
          <p:nvPr/>
        </p:nvSpPr>
        <p:spPr>
          <a:xfrm>
            <a:off x="5762000" y="3858500"/>
            <a:ext cx="180000" cy="220000"/>
          </a:xfrm>
          <a:prstGeom prst="rightArrow">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ounded Rectangle 81"/>
          <p:cNvSpPr/>
          <p:nvPr/>
        </p:nvSpPr>
        <p:spPr>
          <a:xfrm>
            <a:off x="5942000" y="3693500"/>
            <a:ext cx="1100000" cy="550000"/>
          </a:xfrm>
          <a:prstGeom prst="roundRect">
            <a:avLst/>
          </a:prstGeom>
          <a:solidFill>
            <a:srgbClr val="EEEEE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36000" rIns="36000" rtlCol="0" anchor="ctr"/>
          <a:lstStyle/>
          <a:p>
            <a:pPr algn="ctr"/>
            <a:r>
              <a:rPr sz="1100" b="1">
                <a:solidFill>
                  <a:srgbClr val="212121"/>
                </a:solidFill>
                <a:latin typeface="Calibri"/>
              </a:rPr>
              <a:t>Rank</a:t>
            </a:r>
          </a:p>
        </p:txBody>
      </p:sp>
      <p:sp>
        <p:nvSpPr>
          <p:cNvPr id="83" name="Right Arrow 82"/>
          <p:cNvSpPr/>
          <p:nvPr/>
        </p:nvSpPr>
        <p:spPr>
          <a:xfrm>
            <a:off x="7042000" y="3858500"/>
            <a:ext cx="180000" cy="220000"/>
          </a:xfrm>
          <a:prstGeom prst="rightArrow">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ounded Rectangle 83"/>
          <p:cNvSpPr/>
          <p:nvPr/>
        </p:nvSpPr>
        <p:spPr>
          <a:xfrm>
            <a:off x="7222000" y="3693500"/>
            <a:ext cx="1100000" cy="550000"/>
          </a:xfrm>
          <a:prstGeom prst="roundRect">
            <a:avLst/>
          </a:prstGeom>
          <a:solidFill>
            <a:srgbClr val="EEEEE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36000" rIns="36000" rtlCol="0" anchor="ctr"/>
          <a:lstStyle/>
          <a:p>
            <a:pPr algn="ctr"/>
            <a:r>
              <a:rPr sz="1100" b="1">
                <a:solidFill>
                  <a:srgbClr val="212121"/>
                </a:solidFill>
                <a:latin typeface="Calibri"/>
              </a:rPr>
              <a:t>Article</a:t>
            </a:r>
          </a:p>
        </p:txBody>
      </p:sp>
      <p:sp>
        <p:nvSpPr>
          <p:cNvPr id="85" name="Rounded Rectangle 84"/>
          <p:cNvSpPr/>
          <p:nvPr/>
        </p:nvSpPr>
        <p:spPr>
          <a:xfrm>
            <a:off x="1500000" y="4393500"/>
            <a:ext cx="6144000" cy="400000"/>
          </a:xfrm>
          <a:prstGeom prst="roundRect">
            <a:avLst/>
          </a:prstGeom>
          <a:solidFill>
            <a:srgbClr val="FFF4E0"/>
          </a:solidFill>
          <a:ln w="9525">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108000" tIns="72000" rIns="108000" bIns="72000" rtlCol="0" anchor="ctr"/>
          <a:lstStyle/>
          <a:p>
            <a:pPr algn="ctr"/>
            <a:r>
              <a:rPr sz="1200">
                <a:solidFill>
                  <a:srgbClr val="212121"/>
                </a:solidFill>
                <a:latin typeface="Calibri"/>
              </a:rPr>
              <a:t>Score = 0.5 x rating  +  0.3 x positive_ratio  +  0.2 x review_count (normalised per category)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Model 1 - Sentiment</a:t>
            </a:r>
            <a:endParaRPr/>
          </a:p>
        </p:txBody>
      </p:sp>
      <p:sp>
        <p:nvSpPr>
          <p:cNvPr id="79" name="Google Shape;79;p17"/>
          <p:cNvSpPr txBox="1">
            <a:spLocks noGrp="1"/>
          </p:cNvSpPr>
          <p:nvPr>
            <p:ph type="body" idx="1"/>
          </p:nvPr>
        </p:nvSpPr>
        <p:spPr>
          <a:xfrm>
            <a:off x="311700" y="1152475"/>
            <a:ext cx="5000000" cy="2300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t>Goal: label every review as positive, neutral, or negative.</a:t>
            </a:r>
          </a:p>
          <a:p>
            <a:pPr marL="0" lvl="0" indent="0" algn="l" rtl="0">
              <a:spcBef>
                <a:spcPts val="0"/>
              </a:spcBef>
              <a:spcAft>
                <a:spcPts val="0"/>
              </a:spcAft>
              <a:buNone/>
            </a:pPr>
            <a:r>
              <a:rPr lang="en" b="1"/>
              <a:t>Rule: 1-2 stars = negative, 3 = neutral, 4-5 = positive.</a:t>
            </a:r>
          </a:p>
          <a:p>
            <a:pPr marL="0" lvl="0" indent="0" algn="l" rtl="0">
              <a:spcBef>
                <a:spcPts val="0"/>
              </a:spcBef>
              <a:spcAft>
                <a:spcPts val="0"/>
              </a:spcAft>
              <a:buNone/>
            </a:pPr>
            <a:r>
              <a:rPr lang="en" b="1"/>
              <a:t>Model: DistilBERT SST-2, with low-confidence outputs collapsed to neutral.</a:t>
            </a:r>
          </a:p>
          <a:p>
            <a:pPr marL="0" lvl="0" indent="0" algn="l" rtl="0">
              <a:spcBef>
                <a:spcPts val="0"/>
              </a:spcBef>
              <a:spcAft>
                <a:spcPts val="0"/>
              </a:spcAft>
              <a:buNone/>
            </a:pPr>
            <a:r>
              <a:rPr lang="en" b="1"/>
              <a:t>Rating is ground truth, model never sees it. Evaluation stays honest.</a:t>
            </a:r>
          </a:p>
        </p:txBody>
      </p:sp>
      <p:sp>
        <p:nvSpPr>
          <p:cNvPr id="80" name="Rounded Rectangle 79"/>
          <p:cNvSpPr/>
          <p:nvPr/>
        </p:nvSpPr>
        <p:spPr>
          <a:xfrm>
            <a:off x="5832300" y="1300000"/>
            <a:ext cx="2900000" cy="1100000"/>
          </a:xfrm>
          <a:prstGeom prst="roundRect">
            <a:avLst/>
          </a:prstGeom>
          <a:solidFill>
            <a:srgbClr val="EEEEEE"/>
          </a:solidFill>
          <a:ln w="9525">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108000" tIns="72000" rIns="108000" bIns="72000" rtlCol="0" anchor="ctr"/>
          <a:lstStyle/>
          <a:p>
            <a:pPr algn="ctr"/>
            <a:r>
              <a:rPr sz="1400" b="1">
                <a:solidFill>
                  <a:srgbClr val="4285F4"/>
                </a:solidFill>
                <a:latin typeface="Calibri"/>
              </a:rPr>
              <a:t>Rating to label</a:t>
            </a:r>
          </a:p>
          <a:p>
            <a:r>
              <a:rPr sz="1300">
                <a:solidFill>
                  <a:srgbClr val="212121"/>
                </a:solidFill>
                <a:latin typeface="Calibri"/>
              </a:rPr>
              <a:t>1-2 stars  -  negative</a:t>
            </a:r>
          </a:p>
          <a:p>
            <a:r>
              <a:rPr sz="1300">
                <a:solidFill>
                  <a:srgbClr val="212121"/>
                </a:solidFill>
                <a:latin typeface="Calibri"/>
              </a:rPr>
              <a:t>3 stars     -  neutral</a:t>
            </a:r>
          </a:p>
          <a:p>
            <a:r>
              <a:rPr sz="1300">
                <a:solidFill>
                  <a:srgbClr val="212121"/>
                </a:solidFill>
                <a:latin typeface="Calibri"/>
              </a:rPr>
              <a:t>4-5 stars  -  positive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Model 1 - Evaluation</a:t>
            </a:r>
            <a:endParaRPr/>
          </a:p>
        </p:txBody>
      </p:sp>
      <p:sp>
        <p:nvSpPr>
          <p:cNvPr id="85" name="Google Shape;85;p18"/>
          <p:cNvSpPr txBox="1">
            <a:spLocks noGrp="1"/>
          </p:cNvSpPr>
          <p:nvPr>
            <p:ph type="body" idx="1"/>
          </p:nvPr>
        </p:nvSpPr>
        <p:spPr>
          <a:xfrm>
            <a:off x="311700" y="1152475"/>
            <a:ext cx="8520600" cy="1800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t>Stratified 20% holdout, three classes.</a:t>
            </a:r>
          </a:p>
          <a:p>
            <a:pPr marL="0" lvl="0" indent="0" algn="l" rtl="0">
              <a:spcBef>
                <a:spcPts val="0"/>
              </a:spcBef>
              <a:spcAft>
                <a:spcPts val="0"/>
              </a:spcAft>
              <a:buNone/>
            </a:pPr>
            <a:r>
              <a:rPr lang="en" b="1"/>
              <a:t>Most errors land on the neutral and positive boundary, where 3-star reviews mix praise and complaints.</a:t>
            </a:r>
          </a:p>
          <a:p>
            <a:pPr marL="0" lvl="0" indent="0" algn="l" rtl="0">
              <a:spcBef>
                <a:spcPts val="0"/>
              </a:spcBef>
              <a:spcAft>
                <a:spcPts val="0"/>
              </a:spcAft>
              <a:buNone/>
            </a:pPr>
            <a:r>
              <a:rPr lang="en" b="1"/>
              <a:t>Failure inspection focuses on cases where text and rating actually disagree.</a:t>
            </a:r>
          </a:p>
        </p:txBody>
      </p:sp>
      <p:sp>
        <p:nvSpPr>
          <p:cNvPr id="86" name="Rounded Rectangle 85"/>
          <p:cNvSpPr/>
          <p:nvPr/>
        </p:nvSpPr>
        <p:spPr>
          <a:xfrm>
            <a:off x="822000" y="3763500"/>
            <a:ext cx="2400000" cy="1000000"/>
          </a:xfrm>
          <a:prstGeom prst="round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91.6%</a:t>
            </a:r>
          </a:p>
          <a:p>
            <a:pPr algn="ctr"/>
            <a:r>
              <a:rPr sz="1100">
                <a:solidFill>
                  <a:srgbClr val="FFFFFF"/>
                </a:solidFill>
                <a:latin typeface="Calibri"/>
              </a:rPr>
              <a:t>positive</a:t>
            </a:r>
          </a:p>
        </p:txBody>
      </p:sp>
      <p:sp>
        <p:nvSpPr>
          <p:cNvPr id="87" name="Rounded Rectangle 86"/>
          <p:cNvSpPr/>
          <p:nvPr/>
        </p:nvSpPr>
        <p:spPr>
          <a:xfrm>
            <a:off x="3372000" y="3763500"/>
            <a:ext cx="2400000" cy="1000000"/>
          </a:xfrm>
          <a:prstGeom prst="round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4.5%</a:t>
            </a:r>
          </a:p>
          <a:p>
            <a:pPr algn="ctr"/>
            <a:r>
              <a:rPr sz="1100">
                <a:solidFill>
                  <a:srgbClr val="FFFFFF"/>
                </a:solidFill>
                <a:latin typeface="Calibri"/>
              </a:rPr>
              <a:t>neutral</a:t>
            </a:r>
          </a:p>
        </p:txBody>
      </p:sp>
      <p:sp>
        <p:nvSpPr>
          <p:cNvPr id="88" name="Rounded Rectangle 87"/>
          <p:cNvSpPr/>
          <p:nvPr/>
        </p:nvSpPr>
        <p:spPr>
          <a:xfrm>
            <a:off x="5922000" y="3763500"/>
            <a:ext cx="2400000" cy="1000000"/>
          </a:xfrm>
          <a:prstGeom prst="round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4.0%</a:t>
            </a:r>
          </a:p>
          <a:p>
            <a:pPr algn="ctr"/>
            <a:r>
              <a:rPr sz="1100">
                <a:solidFill>
                  <a:srgbClr val="FFFFFF"/>
                </a:solidFill>
                <a:latin typeface="Calibri"/>
              </a:rPr>
              <a:t>negative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Model 2 - Clustering</a:t>
            </a:r>
            <a:endParaRPr/>
          </a:p>
        </p:txBody>
      </p:sp>
      <p:sp>
        <p:nvSpPr>
          <p:cNvPr id="91" name="Google Shape;91;p19"/>
          <p:cNvSpPr txBox="1">
            <a:spLocks noGrp="1"/>
          </p:cNvSpPr>
          <p:nvPr>
            <p:ph type="body" idx="1"/>
          </p:nvPr>
        </p:nvSpPr>
        <p:spPr>
          <a:xfrm>
            <a:off x="311700" y="1152475"/>
            <a:ext cx="5000000" cy="2300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t>Goal: collapse hundreds of raw categories into 4-6 readable groups.</a:t>
            </a:r>
          </a:p>
          <a:p>
            <a:pPr marL="0" lvl="0" indent="0" algn="l" rtl="0">
              <a:spcBef>
                <a:spcPts val="0"/>
              </a:spcBef>
              <a:spcAft>
                <a:spcPts val="0"/>
              </a:spcAft>
              <a:buNone/>
            </a:pPr>
            <a:r>
              <a:rPr lang="en" b="1"/>
              <a:t>Per-product document: name + categories + sample review text.</a:t>
            </a:r>
          </a:p>
          <a:p>
            <a:pPr marL="0" lvl="0" indent="0" algn="l" rtl="0">
              <a:spcBef>
                <a:spcPts val="0"/>
              </a:spcBef>
              <a:spcAft>
                <a:spcPts val="0"/>
              </a:spcAft>
              <a:buNone/>
            </a:pPr>
            <a:r>
              <a:rPr lang="en" b="1"/>
              <a:t>Embeddings via MiniLM, then KMeans with silhouette across k = 4 to 10.</a:t>
            </a:r>
          </a:p>
          <a:p>
            <a:pPr marL="0" lvl="0" indent="0" algn="l" rtl="0">
              <a:spcBef>
                <a:spcPts val="0"/>
              </a:spcBef>
              <a:spcAft>
                <a:spcPts val="0"/>
              </a:spcAft>
              <a:buNone/>
            </a:pPr>
            <a:r>
              <a:rPr lang="en" b="1"/>
              <a:t>Cluster names are auto-derived from the most common keywords.</a:t>
            </a:r>
          </a:p>
        </p:txBody>
      </p:sp>
      <p:sp>
        <p:nvSpPr>
          <p:cNvPr id="92" name="Rounded Rectangle 91"/>
          <p:cNvSpPr/>
          <p:nvPr/>
        </p:nvSpPr>
        <p:spPr>
          <a:xfrm>
            <a:off x="5832300" y="1300000"/>
            <a:ext cx="2900000" cy="1700000"/>
          </a:xfrm>
          <a:prstGeom prst="roundRect">
            <a:avLst/>
          </a:prstGeom>
          <a:solidFill>
            <a:srgbClr val="EEEEEE"/>
          </a:solidFill>
          <a:ln w="9525">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108000" tIns="72000" rIns="108000" bIns="72000" rtlCol="0" anchor="ctr"/>
          <a:lstStyle/>
          <a:p>
            <a:pPr algn="ctr"/>
            <a:r>
              <a:rPr sz="1300" b="1">
                <a:solidFill>
                  <a:srgbClr val="4285F4"/>
                </a:solidFill>
                <a:latin typeface="Calibri"/>
              </a:rPr>
              <a:t>Discovered groups (k = 6)</a:t>
            </a:r>
          </a:p>
          <a:p>
            <a:r>
              <a:rPr sz="1200">
                <a:solidFill>
                  <a:srgbClr val="212121"/>
                </a:solidFill>
                <a:latin typeface="Calibri"/>
              </a:rPr>
              <a:t>Tablet</a:t>
            </a:r>
          </a:p>
          <a:p>
            <a:r>
              <a:rPr sz="1200">
                <a:solidFill>
                  <a:srgbClr val="212121"/>
                </a:solidFill>
                <a:latin typeface="Calibri"/>
              </a:rPr>
              <a:t>Laptop / Tablet</a:t>
            </a:r>
          </a:p>
          <a:p>
            <a:r>
              <a:rPr sz="1200">
                <a:solidFill>
                  <a:srgbClr val="212121"/>
                </a:solidFill>
                <a:latin typeface="Calibri"/>
              </a:rPr>
              <a:t>Speaker / Audio</a:t>
            </a:r>
          </a:p>
          <a:p>
            <a:r>
              <a:rPr sz="1200">
                <a:solidFill>
                  <a:srgbClr val="212121"/>
                </a:solidFill>
                <a:latin typeface="Calibri"/>
              </a:rPr>
              <a:t>Cable</a:t>
            </a:r>
          </a:p>
          <a:p>
            <a:r>
              <a:rPr sz="1200">
                <a:solidFill>
                  <a:srgbClr val="212121"/>
                </a:solidFill>
                <a:latin typeface="Calibri"/>
              </a:rPr>
              <a:t>Remote / Voice / Alexa</a:t>
            </a:r>
          </a:p>
          <a:p>
            <a:r>
              <a:rPr sz="1200">
                <a:solidFill>
                  <a:srgbClr val="212121"/>
                </a:solidFill>
                <a:latin typeface="Calibri"/>
              </a:rPr>
              <a:t>E-reader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Model 2 - Evaluation</a:t>
            </a:r>
            <a:endParaRPr/>
          </a:p>
        </p:txBody>
      </p:sp>
      <p:sp>
        <p:nvSpPr>
          <p:cNvPr id="97" name="Google Shape;97;p20"/>
          <p:cNvSpPr txBox="1">
            <a:spLocks noGrp="1"/>
          </p:cNvSpPr>
          <p:nvPr>
            <p:ph type="body" idx="1"/>
          </p:nvPr>
        </p:nvSpPr>
        <p:spPr>
          <a:xfrm>
            <a:off x="311700" y="1152475"/>
            <a:ext cx="8520600" cy="23000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b="1"/>
              <a:t>Best silhouette in the k = 4 to 6 range, matching the brief.</a:t>
            </a:r>
          </a:p>
          <a:p>
            <a:pPr marL="0" lvl="0" indent="0" algn="l" rtl="0">
              <a:spcBef>
                <a:spcPts val="0"/>
              </a:spcBef>
              <a:spcAft>
                <a:spcPts val="0"/>
              </a:spcAft>
              <a:buNone/>
            </a:pPr>
            <a:r>
              <a:rPr lang="en" b="1"/>
              <a:t>Cluster sizes stay balanced; no one-product degenerate cluster.</a:t>
            </a:r>
          </a:p>
          <a:p>
            <a:pPr marL="0" lvl="0" indent="0" algn="l" rtl="0">
              <a:spcBef>
                <a:spcPts val="0"/>
              </a:spcBef>
              <a:spcAft>
                <a:spcPts val="0"/>
              </a:spcAft>
              <a:buNone/>
            </a:pPr>
            <a:r>
              <a:rPr lang="en" b="1"/>
              <a:t>Eyeball test: the top 5 product names per cluster look coherent.</a:t>
            </a:r>
          </a:p>
          <a:p>
            <a:pPr marL="0" lvl="0" indent="0" algn="l" rtl="0">
              <a:spcBef>
                <a:spcPts val="0"/>
              </a:spcBef>
              <a:spcAft>
                <a:spcPts val="0"/>
              </a:spcAft>
              <a:buNone/>
            </a:pPr>
            <a:r>
              <a:rPr lang="en" b="1"/>
              <a:t>Tradeoff chosen: interpretability over a slightly higher silhouette.</a:t>
            </a:r>
          </a:p>
        </p:txBody>
      </p:sp>
      <p:sp>
        <p:nvSpPr>
          <p:cNvPr id="98" name="Rounded Rectangle 97"/>
          <p:cNvSpPr/>
          <p:nvPr/>
        </p:nvSpPr>
        <p:spPr>
          <a:xfrm>
            <a:off x="3472000" y="3863500"/>
            <a:ext cx="2200000" cy="900000"/>
          </a:xfrm>
          <a:prstGeom prst="round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k = 6</a:t>
            </a:r>
          </a:p>
          <a:p>
            <a:pPr algn="ctr"/>
            <a:r>
              <a:rPr sz="1100">
                <a:solidFill>
                  <a:srgbClr val="FFFFFF"/>
                </a:solidFill>
                <a:latin typeface="Calibri"/>
              </a:rPr>
              <a:t>chosen for the demo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Model 3 - Article</a:t>
            </a:r>
            <a:endParaRPr/>
          </a:p>
        </p:txBody>
      </p:sp>
      <p:sp>
        <p:nvSpPr>
          <p:cNvPr id="103" name="Google Shape;103;p21"/>
          <p:cNvSpPr txBox="1">
            <a:spLocks noGrp="1"/>
          </p:cNvSpPr>
          <p:nvPr>
            <p:ph type="body" idx="1"/>
          </p:nvPr>
        </p:nvSpPr>
        <p:spPr>
          <a:xfrm>
            <a:off x="311700" y="1152475"/>
            <a:ext cx="5000000" cy="2400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Goal: write a short buying guide per category.</a:t>
            </a:r>
          </a:p>
          <a:p>
            <a:pPr marL="0" lvl="0" indent="0" algn="l" rtl="0">
              <a:spcBef>
                <a:spcPts val="0"/>
              </a:spcBef>
              <a:spcAft>
                <a:spcPts val="0"/>
              </a:spcAft>
              <a:buNone/>
            </a:pPr>
            <a:r>
              <a:rPr lang="en"/>
              <a:t>Model: google/flan-t5-base via text2text-generation.</a:t>
            </a:r>
          </a:p>
          <a:p>
            <a:pPr marL="0" lvl="0" indent="0" algn="l" rtl="0">
              <a:spcBef>
                <a:spcPts val="0"/>
              </a:spcBef>
              <a:spcAft>
                <a:spcPts val="0"/>
              </a:spcAft>
              <a:buNone/>
            </a:pPr>
            <a:r>
              <a:rPr lang="en"/>
              <a:t>Prompt is built from aggregated facts only, never raw review text.</a:t>
            </a:r>
          </a:p>
          <a:p>
            <a:pPr marL="0" lvl="0" indent="0" algn="l" rtl="0">
              <a:spcBef>
                <a:spcPts val="0"/>
              </a:spcBef>
              <a:spcAft>
                <a:spcPts val="0"/>
              </a:spcAft>
              <a:buNone/>
            </a:pPr>
            <a:r>
              <a:rPr lang="en"/>
              <a:t>Deterministic Wirecutter-style fallback runs if the LLM output fails the gate.</a:t>
            </a:r>
          </a:p>
        </p:txBody>
      </p:sp>
      <p:sp>
        <p:nvSpPr>
          <p:cNvPr id="104" name="Rounded Rectangle 103"/>
          <p:cNvSpPr/>
          <p:nvPr/>
        </p:nvSpPr>
        <p:spPr>
          <a:xfrm>
            <a:off x="5632300" y="1300000"/>
            <a:ext cx="3100000" cy="2400000"/>
          </a:xfrm>
          <a:prstGeom prst="roundRect">
            <a:avLst/>
          </a:prstGeom>
          <a:solidFill>
            <a:srgbClr val="E8F4FD"/>
          </a:solidFill>
          <a:ln w="9525">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108000" tIns="72000" rIns="108000" bIns="72000" rtlCol="0" anchor="ctr"/>
          <a:lstStyle/>
          <a:p>
            <a:pPr algn="ctr"/>
            <a:r>
              <a:rPr sz="1200" b="1">
                <a:solidFill>
                  <a:srgbClr val="4285F4"/>
                </a:solidFill>
                <a:latin typeface="Calibri"/>
              </a:rPr>
              <a:t>Sample - Cable category</a:t>
            </a:r>
          </a:p>
          <a:p>
            <a:r>
              <a:rPr sz="1100">
                <a:solidFill>
                  <a:srgbClr val="212121"/>
                </a:solidFill>
                <a:latin typeface="Calibri"/>
              </a:rPr>
              <a:t>Best overall: Amazon 9W PowerFast charger</a:t>
            </a:r>
          </a:p>
          <a:p>
            <a:endParaRPr sz="1100">
              <a:solidFill>
                <a:srgbClr val="212121"/>
              </a:solidFill>
              <a:latin typeface="Calibri"/>
            </a:endParaRPr>
          </a:p>
          <a:p>
            <a:r>
              <a:rPr sz="1100">
                <a:solidFill>
                  <a:srgbClr val="212121"/>
                </a:solidFill>
                <a:latin typeface="Calibri"/>
              </a:rPr>
              <a:t>Why: 4.7 average rating, 93% positive,</a:t>
            </a:r>
          </a:p>
          <a:p>
            <a:r>
              <a:rPr sz="1100">
                <a:solidFill>
                  <a:srgbClr val="212121"/>
                </a:solidFill>
                <a:latin typeface="Calibri"/>
              </a:rPr>
              <a:t>and enough review volume to trust.</a:t>
            </a:r>
          </a:p>
          <a:p>
            <a:endParaRPr sz="1100">
              <a:solidFill>
                <a:srgbClr val="212121"/>
              </a:solidFill>
              <a:latin typeface="Calibri"/>
            </a:endParaRPr>
          </a:p>
          <a:p>
            <a:r>
              <a:rPr sz="1100">
                <a:solidFill>
                  <a:srgbClr val="212121"/>
                </a:solidFill>
                <a:latin typeface="Calibri"/>
              </a:rPr>
              <a:t>Watch out: charge issues, app issues,</a:t>
            </a:r>
          </a:p>
          <a:p>
            <a:r>
              <a:rPr sz="1100">
                <a:solidFill>
                  <a:srgbClr val="212121"/>
                </a:solidFill>
                <a:latin typeface="Calibri"/>
              </a:rPr>
              <a:t>battery issues, screen issues, wifi issues.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Model 3 - Evaluation</a:t>
            </a:r>
            <a:endParaRPr/>
          </a:p>
        </p:txBody>
      </p:sp>
      <p:sp>
        <p:nvSpPr>
          <p:cNvPr id="109" name="Google Shape;109;p22"/>
          <p:cNvSpPr txBox="1">
            <a:spLocks noGrp="1"/>
          </p:cNvSpPr>
          <p:nvPr>
            <p:ph type="body" idx="1"/>
          </p:nvPr>
        </p:nvSpPr>
        <p:spPr>
          <a:xfrm>
            <a:off x="311700" y="1152475"/>
            <a:ext cx="8520600" cy="19000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Compared against the deterministic fallback using ROUGE-1/2/L.</a:t>
            </a:r>
          </a:p>
          <a:p>
            <a:pPr marL="0" lvl="0" indent="0" algn="l" rtl="0">
              <a:spcBef>
                <a:spcPts val="0"/>
              </a:spcBef>
              <a:spcAft>
                <a:spcPts val="0"/>
              </a:spcAft>
              <a:buNone/>
            </a:pPr>
            <a:r>
              <a:rPr lang="en"/>
              <a:t>Quality gate: 150+ words, unique-word ratio &gt;= 0.35, contains 'Best overall' and 'Bottom line'.</a:t>
            </a:r>
          </a:p>
          <a:p>
            <a:pPr marL="0" lvl="0" indent="0" algn="l" rtl="0">
              <a:spcBef>
                <a:spcPts val="0"/>
              </a:spcBef>
              <a:spcAft>
                <a:spcPts val="0"/>
              </a:spcAft>
              <a:buNone/>
            </a:pPr>
            <a:r>
              <a:rPr lang="en"/>
              <a:t>FLAN-T5-base sometimes drops sections; the gate catches that and the fallback ships.</a:t>
            </a:r>
          </a:p>
          <a:p>
            <a:pPr marL="0" lvl="0" indent="0" algn="l" rtl="0">
              <a:spcBef>
                <a:spcPts val="0"/>
              </a:spcBef>
              <a:spcAft>
                <a:spcPts val="0"/>
              </a:spcAft>
              <a:buNone/>
            </a:pPr>
            <a:r>
              <a:rPr lang="en"/>
              <a:t>Length and uniqueness are logged on every run as a drift signal.</a:t>
            </a:r>
          </a:p>
        </p:txBody>
      </p:sp>
      <p:sp>
        <p:nvSpPr>
          <p:cNvPr id="110" name="Rounded Rectangle 109"/>
          <p:cNvSpPr/>
          <p:nvPr/>
        </p:nvSpPr>
        <p:spPr>
          <a:xfrm>
            <a:off x="372000" y="3813500"/>
            <a:ext cx="2700000" cy="950000"/>
          </a:xfrm>
          <a:prstGeom prst="round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6</a:t>
            </a:r>
          </a:p>
          <a:p>
            <a:pPr algn="ctr"/>
            <a:r>
              <a:rPr sz="1100">
                <a:solidFill>
                  <a:srgbClr val="FFFFFF"/>
                </a:solidFill>
                <a:latin typeface="Calibri"/>
              </a:rPr>
              <a:t>articles generated</a:t>
            </a:r>
          </a:p>
        </p:txBody>
      </p:sp>
      <p:sp>
        <p:nvSpPr>
          <p:cNvPr id="111" name="Rounded Rectangle 110"/>
          <p:cNvSpPr/>
          <p:nvPr/>
        </p:nvSpPr>
        <p:spPr>
          <a:xfrm>
            <a:off x="3222000" y="3813500"/>
            <a:ext cx="2700000" cy="950000"/>
          </a:xfrm>
          <a:prstGeom prst="round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0</a:t>
            </a:r>
          </a:p>
          <a:p>
            <a:pPr algn="ctr"/>
            <a:r>
              <a:rPr sz="1100">
                <a:solidFill>
                  <a:srgbClr val="FFFFFF"/>
                </a:solidFill>
                <a:latin typeface="Calibri"/>
              </a:rPr>
              <a:t>raw reviews sent to LLM</a:t>
            </a:r>
          </a:p>
        </p:txBody>
      </p:sp>
      <p:sp>
        <p:nvSpPr>
          <p:cNvPr id="112" name="Rounded Rectangle 111"/>
          <p:cNvSpPr/>
          <p:nvPr/>
        </p:nvSpPr>
        <p:spPr>
          <a:xfrm>
            <a:off x="6072000" y="3813500"/>
            <a:ext cx="2700000" cy="950000"/>
          </a:xfrm>
          <a:prstGeom prst="round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2800" b="1">
                <a:solidFill>
                  <a:srgbClr val="FFFFFF"/>
                </a:solidFill>
                <a:latin typeface="Calibri"/>
              </a:rPr>
              <a:t>Yes</a:t>
            </a:r>
          </a:p>
          <a:p>
            <a:pPr algn="ctr"/>
            <a:r>
              <a:rPr sz="1100">
                <a:solidFill>
                  <a:srgbClr val="FFFFFF"/>
                </a:solidFill>
                <a:latin typeface="Calibri"/>
              </a:rPr>
              <a:t>deterministic fallback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Takeaway</a:t>
            </a:r>
            <a:endParaRPr/>
          </a:p>
        </p:txBody>
      </p:sp>
      <p:sp>
        <p:nvSpPr>
          <p:cNvPr id="115" name="Google Shape;115;p23"/>
          <p:cNvSpPr txBox="1">
            <a:spLocks noGrp="1"/>
          </p:cNvSpPr>
          <p:nvPr>
            <p:ph type="body" idx="1"/>
          </p:nvPr>
        </p:nvSpPr>
        <p:spPr>
          <a:xfrm>
            <a:off x="311700" y="1152475"/>
            <a:ext cx="8520600" cy="22000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Three small models, one clear product: messy CSV in, readable buying guide out.</a:t>
            </a:r>
          </a:p>
          <a:p>
            <a:pPr marL="457200" lvl="0" indent="-342900" algn="l" rtl="0">
              <a:spcBef>
                <a:spcPts val="0"/>
              </a:spcBef>
              <a:spcAft>
                <a:spcPts val="0"/>
              </a:spcAft>
              <a:buSzPts val="1800"/>
              <a:buChar char="●"/>
            </a:pPr>
            <a:r>
              <a:rPr lang="en"/>
              <a:t>Honest evaluation at every step: F1, silhouette, ROUGE plus quality gate.</a:t>
            </a:r>
          </a:p>
          <a:p>
            <a:pPr marL="457200" lvl="0" indent="-342900" algn="l" rtl="0">
              <a:spcBef>
                <a:spcPts val="0"/>
              </a:spcBef>
              <a:spcAft>
                <a:spcPts val="0"/>
              </a:spcAft>
              <a:buSzPts val="1800"/>
              <a:buChar char="●"/>
            </a:pPr>
            <a:r>
              <a:rPr lang="en"/>
              <a:t>Safety: the LLM only ever sees aggregated facts, never customer text.</a:t>
            </a:r>
          </a:p>
          <a:p>
            <a:pPr marL="457200" lvl="0" indent="-342900" algn="l" rtl="0">
              <a:spcBef>
                <a:spcPts val="0"/>
              </a:spcBef>
              <a:spcAft>
                <a:spcPts val="0"/>
              </a:spcAft>
              <a:buSzPts val="1800"/>
              <a:buChar char="●"/>
            </a:pPr>
            <a:r>
              <a:rPr lang="en"/>
              <a:t>Robust by design: fallback keeps the app useful even without the model.</a:t>
            </a:r>
          </a:p>
        </p:txBody>
      </p:sp>
      <p:sp>
        <p:nvSpPr>
          <p:cNvPr id="116" name="Rounded Rectangle 115"/>
          <p:cNvSpPr/>
          <p:nvPr/>
        </p:nvSpPr>
        <p:spPr>
          <a:xfrm>
            <a:off x="667000" y="4213500"/>
            <a:ext cx="1450000" cy="550000"/>
          </a:xfrm>
          <a:prstGeom prst="round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lIns="72000" tIns="36000" rIns="72000" bIns="36000" rtlCol="0" anchor="ctr"/>
          <a:lstStyle/>
          <a:p>
            <a:pPr algn="ctr"/>
            <a:r>
              <a:rPr sz="1300" b="1">
                <a:solidFill>
                  <a:srgbClr val="FFFFFF"/>
                </a:solidFill>
                <a:latin typeface="Calibri"/>
              </a:rPr>
              <a:t>Streamlit</a:t>
            </a:r>
          </a:p>
        </p:txBody>
      </p:sp>
      <p:sp>
        <p:nvSpPr>
          <p:cNvPr id="117" name="Rounded Rectangle 116"/>
          <p:cNvSpPr/>
          <p:nvPr/>
        </p:nvSpPr>
        <p:spPr>
          <a:xfrm>
            <a:off x="2257000" y="4213500"/>
            <a:ext cx="1450000" cy="550000"/>
          </a:xfrm>
          <a:prstGeom prst="round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lIns="72000" tIns="36000" rIns="72000" bIns="36000" rtlCol="0" anchor="ctr"/>
          <a:lstStyle/>
          <a:p>
            <a:pPr algn="ctr"/>
            <a:r>
              <a:rPr sz="1300" b="1">
                <a:solidFill>
                  <a:srgbClr val="FFFFFF"/>
                </a:solidFill>
                <a:latin typeface="Calibri"/>
              </a:rPr>
              <a:t>FastAPI</a:t>
            </a:r>
          </a:p>
        </p:txBody>
      </p:sp>
      <p:sp>
        <p:nvSpPr>
          <p:cNvPr id="118" name="Rounded Rectangle 117"/>
          <p:cNvSpPr/>
          <p:nvPr/>
        </p:nvSpPr>
        <p:spPr>
          <a:xfrm>
            <a:off x="3847000" y="4213500"/>
            <a:ext cx="1450000" cy="550000"/>
          </a:xfrm>
          <a:prstGeom prst="round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lIns="72000" tIns="36000" rIns="72000" bIns="36000" rtlCol="0" anchor="ctr"/>
          <a:lstStyle/>
          <a:p>
            <a:pPr algn="ctr"/>
            <a:r>
              <a:rPr sz="1300" b="1">
                <a:solidFill>
                  <a:srgbClr val="FFFFFF"/>
                </a:solidFill>
                <a:latin typeface="Calibri"/>
              </a:rPr>
              <a:t>Docker</a:t>
            </a:r>
          </a:p>
        </p:txBody>
      </p:sp>
      <p:sp>
        <p:nvSpPr>
          <p:cNvPr id="119" name="Rounded Rectangle 118"/>
          <p:cNvSpPr/>
          <p:nvPr/>
        </p:nvSpPr>
        <p:spPr>
          <a:xfrm>
            <a:off x="5437000" y="4213500"/>
            <a:ext cx="1450000" cy="550000"/>
          </a:xfrm>
          <a:prstGeom prst="round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lIns="72000" tIns="36000" rIns="72000" bIns="36000" rtlCol="0" anchor="ctr"/>
          <a:lstStyle/>
          <a:p>
            <a:pPr algn="ctr"/>
            <a:r>
              <a:rPr sz="1300" b="1">
                <a:solidFill>
                  <a:srgbClr val="FFFFFF"/>
                </a:solidFill>
                <a:latin typeface="Calibri"/>
              </a:rPr>
              <a:t>EC2</a:t>
            </a:r>
          </a:p>
        </p:txBody>
      </p:sp>
      <p:sp>
        <p:nvSpPr>
          <p:cNvPr id="120" name="Rounded Rectangle 119"/>
          <p:cNvSpPr/>
          <p:nvPr/>
        </p:nvSpPr>
        <p:spPr>
          <a:xfrm>
            <a:off x="7027000" y="4213500"/>
            <a:ext cx="1450000" cy="550000"/>
          </a:xfrm>
          <a:prstGeom prst="round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lIns="72000" tIns="36000" rIns="72000" bIns="36000" rtlCol="0" anchor="ctr"/>
          <a:lstStyle/>
          <a:p>
            <a:pPr algn="ctr"/>
            <a:r>
              <a:rPr sz="1300" b="1">
                <a:solidFill>
                  <a:srgbClr val="FFFFFF"/>
                </a:solidFill>
                <a:latin typeface="Calibri"/>
              </a:rPr>
              <a:t>Hugging Face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Demo (3 minutes)</a:t>
            </a:r>
            <a:endParaRPr/>
          </a:p>
        </p:txBody>
      </p:sp>
      <p:sp>
        <p:nvSpPr>
          <p:cNvPr id="121" name="Google Shape;121;p24"/>
          <p:cNvSpPr txBox="1">
            <a:spLocks noGrp="1"/>
          </p:cNvSpPr>
          <p:nvPr>
            <p:ph type="body" idx="1"/>
          </p:nvPr>
        </p:nvSpPr>
        <p:spPr>
          <a:xfrm>
            <a:off x="311700" y="1152475"/>
            <a:ext cx="8520600" cy="18000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Upload a CSV, run Process reviews, pick a category, generate an article.</a:t>
            </a:r>
          </a:p>
          <a:p>
            <a:pPr marL="457200" lvl="0" indent="-342900" algn="l" rtl="0">
              <a:spcBef>
                <a:spcPts val="0"/>
              </a:spcBef>
              <a:spcAft>
                <a:spcPts val="0"/>
              </a:spcAft>
              <a:buSzPts val="1800"/>
              <a:buChar char="●"/>
            </a:pPr>
            <a:r>
              <a:rPr lang="en"/>
              <a:t>Will show: category insights JSON and one generated buying guide.</a:t>
            </a:r>
          </a:p>
          <a:p>
            <a:pPr marL="457200" lvl="0" indent="-342900" algn="l" rtl="0">
              <a:spcBef>
                <a:spcPts val="0"/>
              </a:spcBef>
              <a:spcAft>
                <a:spcPts val="0"/>
              </a:spcAft>
              <a:buSzPts val="1800"/>
              <a:buChar char="●"/>
            </a:pPr>
            <a:r>
              <a:rPr lang="en"/>
              <a:t>Backup: screenshots in the repo if anything goes sideways live.</a:t>
            </a:r>
          </a:p>
        </p:txBody>
      </p:sp>
      <p:sp>
        <p:nvSpPr>
          <p:cNvPr id="122" name="Rounded Rectangle 121"/>
          <p:cNvSpPr/>
          <p:nvPr/>
        </p:nvSpPr>
        <p:spPr>
          <a:xfrm>
            <a:off x="1500000" y="3563500"/>
            <a:ext cx="6144000" cy="1100000"/>
          </a:xfrm>
          <a:prstGeom prst="roundRect">
            <a:avLst/>
          </a:prstGeom>
          <a:solidFill>
            <a:srgbClr val="E8F4FD"/>
          </a:solidFill>
          <a:ln w="9525">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108000" tIns="72000" rIns="108000" bIns="72000" rtlCol="0" anchor="ctr"/>
          <a:lstStyle/>
          <a:p>
            <a:pPr algn="ctr"/>
            <a:r>
              <a:rPr sz="1400" b="1">
                <a:solidFill>
                  <a:srgbClr val="4285F4"/>
                </a:solidFill>
                <a:latin typeface="Calibri"/>
              </a:rPr>
              <a:t>Live deployment</a:t>
            </a:r>
          </a:p>
          <a:p>
            <a:r>
              <a:rPr sz="1400">
                <a:solidFill>
                  <a:srgbClr val="212121"/>
                </a:solidFill>
                <a:latin typeface="Calibri"/>
              </a:rPr>
              <a:t>http://18.157.233.122:8501/   (Streamlit UI)</a:t>
            </a:r>
          </a:p>
          <a:p>
            <a:r>
              <a:rPr sz="1400">
                <a:solidFill>
                  <a:srgbClr val="212121"/>
                </a:solidFill>
                <a:latin typeface="Calibri"/>
              </a:rPr>
              <a:t>http://18.157.233.122:8000/docs   (FastAPI docs)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Next steps</a:t>
            </a:r>
            <a:endParaRPr/>
          </a:p>
        </p:txBody>
      </p:sp>
      <p:sp>
        <p:nvSpPr>
          <p:cNvPr id="127" name="Google Shape;127;p25"/>
          <p:cNvSpPr txBox="1">
            <a:spLocks noGrp="1"/>
          </p:cNvSpPr>
          <p:nvPr>
            <p:ph type="body" idx="1"/>
          </p:nvPr>
        </p:nvSpPr>
        <p:spPr>
          <a:xfrm>
            <a:off x="311700" y="1152475"/>
            <a:ext cx="8520600" cy="2400000"/>
          </a:xfrm>
          <a:prstGeom prst="rect">
            <a:avLst/>
          </a:prstGeom>
        </p:spPr>
        <p:txBody>
          <a:bodyPr spcFirstLastPara="1" wrap="square" lIns="91425" tIns="91425" rIns="91425" bIns="91425" anchor="t" anchorCtr="0">
            <a:normAutofit fontScale="85000" lnSpcReduction="20000"/>
          </a:bodyPr>
          <a:lstStyle/>
          <a:p>
            <a:pPr marL="457200" lvl="0" indent="-325755" algn="l" rtl="0">
              <a:spcBef>
                <a:spcPts val="0"/>
              </a:spcBef>
              <a:spcAft>
                <a:spcPts val="0"/>
              </a:spcAft>
              <a:buSzPct val="100000"/>
              <a:buChar char="●"/>
            </a:pPr>
            <a:r>
              <a:rPr lang="en"/>
              <a:t>Stronger sentiment model that catches sarcasm and mixed reviews.</a:t>
            </a:r>
          </a:p>
          <a:p>
            <a:pPr marL="457200" lvl="0" indent="-325755" algn="l" rtl="0">
              <a:spcBef>
                <a:spcPts val="0"/>
              </a:spcBef>
              <a:spcAft>
                <a:spcPts val="0"/>
              </a:spcAft>
              <a:buSzPct val="100000"/>
              <a:buChar char="●"/>
            </a:pPr>
            <a:r>
              <a:rPr lang="en"/>
              <a:t>Cleaner cluster names tied to a real product taxonomy.</a:t>
            </a:r>
          </a:p>
          <a:p>
            <a:pPr marL="457200" lvl="0" indent="-325755" algn="l" rtl="0">
              <a:spcBef>
                <a:spcPts val="0"/>
              </a:spcBef>
              <a:spcAft>
                <a:spcPts val="0"/>
              </a:spcAft>
              <a:buSzPct val="100000"/>
              <a:buChar char="●"/>
            </a:pPr>
            <a:r>
              <a:rPr lang="en"/>
              <a:t>User filters: price, complaint type, minimum review volume.</a:t>
            </a:r>
          </a:p>
          <a:p>
            <a:pPr marL="457200" lvl="0" indent="-325755" algn="l" rtl="0">
              <a:spcBef>
                <a:spcPts val="0"/>
              </a:spcBef>
              <a:spcAft>
                <a:spcPts val="0"/>
              </a:spcAft>
              <a:buSzPct val="100000"/>
              <a:buChar char="●"/>
            </a:pPr>
            <a:r>
              <a:rPr lang="en"/>
              <a:t>Keep the UI fast: the buyer should get an answer in seconds.</a:t>
            </a:r>
          </a:p>
        </p:txBody>
      </p:sp>
      <p:sp>
        <p:nvSpPr>
          <p:cNvPr id="128" name="Rounded Rectangle 127"/>
          <p:cNvSpPr/>
          <p:nvPr/>
        </p:nvSpPr>
        <p:spPr>
          <a:xfrm>
            <a:off x="2972000" y="4063500"/>
            <a:ext cx="3200000" cy="700000"/>
          </a:xfrm>
          <a:prstGeom prst="round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lIns="72000" tIns="36000" rIns="72000" bIns="36000" rtlCol="0" anchor="ctr"/>
          <a:lstStyle/>
          <a:p>
            <a:pPr algn="ctr"/>
            <a:r>
              <a:rPr sz="1300" b="1">
                <a:solidFill>
                  <a:srgbClr val="FFFFFF"/>
                </a:solidFill>
                <a:latin typeface="Calibri"/>
              </a:rPr>
              <a:t>Thank you - questions?</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1487</Words>
  <Application>Microsoft Office PowerPoint</Application>
  <PresentationFormat>On-screen Show (16:9)</PresentationFormat>
  <Paragraphs>128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Simple Light</vt:lpstr>
      <vt:lpstr>BestOf</vt:lpstr>
      <vt:lpstr>The pitch</vt:lpstr>
      <vt:lpstr>Introduction</vt:lpstr>
      <vt:lpstr>Methods</vt:lpstr>
      <vt:lpstr>Model 1 - Sentiment</vt:lpstr>
      <vt:lpstr>Model 1 - Evaluation</vt:lpstr>
      <vt:lpstr>Model 2 - Clustering</vt:lpstr>
      <vt:lpstr>Model 2 - Evaluation</vt:lpstr>
      <vt:lpstr>Model 3 - Article</vt:lpstr>
      <vt:lpstr>Model 3 - Evaluation</vt:lpstr>
      <vt:lpstr>Takeaway</vt:lpstr>
      <vt:lpstr>Demo (3 minutes)</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 Z</cp:lastModifiedBy>
  <cp:revision>1</cp:revision>
  <dcterms:modified xsi:type="dcterms:W3CDTF">2026-05-08T10:23:27Z</dcterms:modified>
</cp:coreProperties>
</file>